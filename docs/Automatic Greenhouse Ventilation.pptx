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4"/>
  </p:sldMasterIdLst>
  <p:notesMasterIdLst>
    <p:notesMasterId r:id="rId34"/>
  </p:notesMasterIdLst>
  <p:sldIdLst>
    <p:sldId id="256" r:id="rId5"/>
    <p:sldId id="257" r:id="rId6"/>
    <p:sldId id="258" r:id="rId7"/>
    <p:sldId id="259" r:id="rId8"/>
    <p:sldId id="271" r:id="rId9"/>
    <p:sldId id="261" r:id="rId10"/>
    <p:sldId id="262" r:id="rId11"/>
    <p:sldId id="263" r:id="rId12"/>
    <p:sldId id="264" r:id="rId13"/>
    <p:sldId id="265" r:id="rId14"/>
    <p:sldId id="266" r:id="rId15"/>
    <p:sldId id="267" r:id="rId16"/>
    <p:sldId id="268" r:id="rId17"/>
    <p:sldId id="269" r:id="rId18"/>
    <p:sldId id="272" r:id="rId19"/>
    <p:sldId id="293" r:id="rId20"/>
    <p:sldId id="273" r:id="rId21"/>
    <p:sldId id="284" r:id="rId22"/>
    <p:sldId id="286" r:id="rId23"/>
    <p:sldId id="285" r:id="rId24"/>
    <p:sldId id="291" r:id="rId25"/>
    <p:sldId id="290" r:id="rId26"/>
    <p:sldId id="274" r:id="rId27"/>
    <p:sldId id="287" r:id="rId28"/>
    <p:sldId id="292" r:id="rId29"/>
    <p:sldId id="275" r:id="rId30"/>
    <p:sldId id="276" r:id="rId31"/>
    <p:sldId id="288" r:id="rId32"/>
    <p:sldId id="2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852BCB-9EDC-4C79-A682-86C93BA77071}" v="198" dt="2026-04-02T19:36:31.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0655" autoAdjust="0"/>
  </p:normalViewPr>
  <p:slideViewPr>
    <p:cSldViewPr snapToGrid="0">
      <p:cViewPr varScale="1">
        <p:scale>
          <a:sx n="80" d="100"/>
          <a:sy n="80" d="100"/>
        </p:scale>
        <p:origin x="58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9B9AE-40FA-4432-A29C-65CEA1336E92}" type="datetimeFigureOut">
              <a:rPr lang="en-US" smtClean="0"/>
              <a:t>03-Apr-26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55FBC5-27FE-4590-837D-243C24F0AA38}" type="slidenum">
              <a:rPr lang="en-US" smtClean="0"/>
              <a:t>‹#›</a:t>
            </a:fld>
            <a:endParaRPr lang="en-US"/>
          </a:p>
        </p:txBody>
      </p:sp>
    </p:spTree>
    <p:extLst>
      <p:ext uri="{BB962C8B-B14F-4D97-AF65-F5344CB8AC3E}">
        <p14:creationId xmlns:p14="http://schemas.microsoft.com/office/powerpoint/2010/main" val="236637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55FBC5-27FE-4590-837D-243C24F0AA38}" type="slidenum">
              <a:rPr lang="en-US" smtClean="0"/>
              <a:t>1</a:t>
            </a:fld>
            <a:endParaRPr lang="en-US"/>
          </a:p>
        </p:txBody>
      </p:sp>
    </p:spTree>
    <p:extLst>
      <p:ext uri="{BB962C8B-B14F-4D97-AF65-F5344CB8AC3E}">
        <p14:creationId xmlns:p14="http://schemas.microsoft.com/office/powerpoint/2010/main" val="980820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55FBC5-27FE-4590-837D-243C24F0AA38}" type="slidenum">
              <a:rPr lang="en-US" smtClean="0"/>
              <a:t>2</a:t>
            </a:fld>
            <a:endParaRPr lang="en-US"/>
          </a:p>
        </p:txBody>
      </p:sp>
    </p:spTree>
    <p:extLst>
      <p:ext uri="{BB962C8B-B14F-4D97-AF65-F5344CB8AC3E}">
        <p14:creationId xmlns:p14="http://schemas.microsoft.com/office/powerpoint/2010/main" val="605589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mn-lt"/>
                <a:ea typeface="+mn-ea"/>
                <a:cs typeface="+mn-cs"/>
              </a:rPr>
              <a:t>GPIO</a:t>
            </a:r>
            <a:r>
              <a:rPr lang="en-US" sz="1200" u="none" kern="1200" dirty="0">
                <a:solidFill>
                  <a:schemeClr val="tx1"/>
                </a:solidFill>
                <a:effectLst/>
                <a:latin typeface="+mn-lt"/>
                <a:ea typeface="+mn-ea"/>
                <a:cs typeface="+mn-cs"/>
              </a:rPr>
              <a:t> = </a:t>
            </a:r>
            <a:r>
              <a:rPr lang="en-US" sz="1200" b="1" u="none" kern="1200" dirty="0">
                <a:solidFill>
                  <a:schemeClr val="tx1"/>
                </a:solidFill>
                <a:effectLst/>
                <a:latin typeface="+mn-lt"/>
                <a:ea typeface="+mn-ea"/>
                <a:cs typeface="+mn-cs"/>
              </a:rPr>
              <a:t>General Purpose Input Output Pins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sng"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*Note: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I²C</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Inter-Integrated Circuit</a:t>
            </a:r>
            <a:r>
              <a:rPr lang="en-US" sz="1200" kern="1200" dirty="0">
                <a:solidFill>
                  <a:schemeClr val="tx1"/>
                </a:solidFill>
                <a:effectLst/>
                <a:latin typeface="+mn-lt"/>
                <a:ea typeface="+mn-ea"/>
                <a:cs typeface="+mn-cs"/>
              </a:rPr>
              <a:t>) is a serial communication protocol used to connect multiple electronic devices using only two wires. These wires are SDA (Serial Data) and SCL (Serial Clock). The SDA line carries the data between devices, while the SCL line provides the clock signal that synchronizes communication. Each device on the I²C bus has a unique address, allowing the microcontroller to communicate with multiple components using the same two pins. In Arduino boards such as the Arduino Uno, the I²C pins are A4 (SDA) and A5 (SCL). In this project, I²C communication is used to control the LCD displays efficiently using fewer pins.</a:t>
            </a:r>
          </a:p>
          <a:p>
            <a:endParaRPr lang="en-US" dirty="0"/>
          </a:p>
        </p:txBody>
      </p:sp>
      <p:sp>
        <p:nvSpPr>
          <p:cNvPr id="4" name="Slide Number Placeholder 3"/>
          <p:cNvSpPr>
            <a:spLocks noGrp="1"/>
          </p:cNvSpPr>
          <p:nvPr>
            <p:ph type="sldNum" sz="quarter" idx="5"/>
          </p:nvPr>
        </p:nvSpPr>
        <p:spPr/>
        <p:txBody>
          <a:bodyPr/>
          <a:lstStyle/>
          <a:p>
            <a:fld id="{2C55FBC5-27FE-4590-837D-243C24F0AA38}" type="slidenum">
              <a:rPr lang="en-US" smtClean="0"/>
              <a:t>12</a:t>
            </a:fld>
            <a:endParaRPr lang="en-US"/>
          </a:p>
        </p:txBody>
      </p:sp>
    </p:spTree>
    <p:extLst>
      <p:ext uri="{BB962C8B-B14F-4D97-AF65-F5344CB8AC3E}">
        <p14:creationId xmlns:p14="http://schemas.microsoft.com/office/powerpoint/2010/main" val="1649122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9600 baud rate</a:t>
            </a:r>
            <a:r>
              <a:rPr lang="en-US" dirty="0"/>
              <a:t> means </a:t>
            </a:r>
            <a:r>
              <a:rPr lang="en-US" b="1" dirty="0"/>
              <a:t>9600 bits per second</a:t>
            </a:r>
            <a:r>
              <a:rPr lang="en-US" dirty="0"/>
              <a:t> are transmitted.</a:t>
            </a:r>
          </a:p>
        </p:txBody>
      </p:sp>
      <p:sp>
        <p:nvSpPr>
          <p:cNvPr id="4" name="Slide Number Placeholder 3"/>
          <p:cNvSpPr>
            <a:spLocks noGrp="1"/>
          </p:cNvSpPr>
          <p:nvPr>
            <p:ph type="sldNum" sz="quarter" idx="5"/>
          </p:nvPr>
        </p:nvSpPr>
        <p:spPr/>
        <p:txBody>
          <a:bodyPr/>
          <a:lstStyle/>
          <a:p>
            <a:fld id="{2C55FBC5-27FE-4590-837D-243C24F0AA38}" type="slidenum">
              <a:rPr lang="en-US" smtClean="0"/>
              <a:t>18</a:t>
            </a:fld>
            <a:endParaRPr lang="en-US"/>
          </a:p>
        </p:txBody>
      </p:sp>
    </p:spTree>
    <p:extLst>
      <p:ext uri="{BB962C8B-B14F-4D97-AF65-F5344CB8AC3E}">
        <p14:creationId xmlns:p14="http://schemas.microsoft.com/office/powerpoint/2010/main" val="2905939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03-Apr-26</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61021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21111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03-Apr-26</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247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30431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03-Apr-26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0500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03-Apr-26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4038956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03-Apr-26</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687007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03-Apr-26</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203172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03-Apr-26</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302115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1366089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03-Apr-26</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088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03-Apr-26</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883959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hyperlink" Target="https://wokwi.com/projects/460081078946873345"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pythagoreionip.blogspot.com/2014/12/" TargetMode="External"/><Relationship Id="rId2" Type="http://schemas.openxmlformats.org/officeDocument/2006/relationships/image" Target="../media/image13.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A22F210-7186-4074-94C5-FAD2C2EB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ED93057-B056-4D1D-B0DA-F1619DAAF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AF7DDD-9E30-8EA5-51B5-0A93B1EAED59}"/>
              </a:ext>
            </a:extLst>
          </p:cNvPr>
          <p:cNvSpPr>
            <a:spLocks noGrp="1"/>
          </p:cNvSpPr>
          <p:nvPr>
            <p:ph type="ctrTitle"/>
          </p:nvPr>
        </p:nvSpPr>
        <p:spPr>
          <a:xfrm>
            <a:off x="1635103" y="1057522"/>
            <a:ext cx="4741843" cy="2173433"/>
          </a:xfrm>
        </p:spPr>
        <p:txBody>
          <a:bodyPr>
            <a:normAutofit/>
          </a:bodyPr>
          <a:lstStyle/>
          <a:p>
            <a:pPr>
              <a:lnSpc>
                <a:spcPct val="115000"/>
              </a:lnSpc>
            </a:pPr>
            <a:r>
              <a:rPr lang="en-US" sz="3700" b="1" dirty="0">
                <a:solidFill>
                  <a:schemeClr val="bg1"/>
                </a:solidFill>
              </a:rPr>
              <a:t>Automatic Greenhouse Ventilation</a:t>
            </a:r>
            <a:endParaRPr lang="en-US" sz="3700" dirty="0">
              <a:solidFill>
                <a:schemeClr val="bg1"/>
              </a:solidFill>
            </a:endParaRPr>
          </a:p>
        </p:txBody>
      </p:sp>
      <p:sp>
        <p:nvSpPr>
          <p:cNvPr id="3" name="Subtitle 2">
            <a:extLst>
              <a:ext uri="{FF2B5EF4-FFF2-40B4-BE49-F238E27FC236}">
                <a16:creationId xmlns:a16="http://schemas.microsoft.com/office/drawing/2014/main" id="{3933291F-5408-2194-F237-2D4C4F6E9BB8}"/>
              </a:ext>
            </a:extLst>
          </p:cNvPr>
          <p:cNvSpPr>
            <a:spLocks noGrp="1"/>
          </p:cNvSpPr>
          <p:nvPr>
            <p:ph type="subTitle" idx="1"/>
          </p:nvPr>
        </p:nvSpPr>
        <p:spPr>
          <a:xfrm>
            <a:off x="1134781" y="3751119"/>
            <a:ext cx="5242165" cy="3106881"/>
          </a:xfrm>
        </p:spPr>
        <p:txBody>
          <a:bodyPr anchor="t">
            <a:normAutofit fontScale="62500" lnSpcReduction="20000"/>
          </a:bodyPr>
          <a:lstStyle/>
          <a:p>
            <a:r>
              <a:rPr lang="en-US" b="1" dirty="0"/>
              <a:t>Mini Project – </a:t>
            </a:r>
            <a:r>
              <a:rPr lang="en-US" b="1" dirty="0" err="1"/>
              <a:t>Wokwi</a:t>
            </a:r>
            <a:r>
              <a:rPr lang="en-US" b="1" dirty="0"/>
              <a:t> Based IoT Application Development</a:t>
            </a:r>
            <a:endParaRPr lang="en-US" dirty="0"/>
          </a:p>
          <a:p>
            <a:r>
              <a:rPr lang="en-US" b="1" dirty="0"/>
              <a:t>IOT Level-2</a:t>
            </a:r>
            <a:endParaRPr lang="en-US" dirty="0"/>
          </a:p>
          <a:p>
            <a:r>
              <a:rPr lang="en-US" b="1" dirty="0"/>
              <a:t>Type: Simulation</a:t>
            </a:r>
          </a:p>
          <a:p>
            <a:r>
              <a:rPr lang="en-US" dirty="0"/>
              <a:t>By: Khaushl Dev Saravanan</a:t>
            </a:r>
          </a:p>
          <a:p>
            <a:r>
              <a:rPr lang="en-US" dirty="0"/>
              <a:t>Registration No.: 230968198 </a:t>
            </a:r>
          </a:p>
          <a:p>
            <a:r>
              <a:rPr lang="en-US" dirty="0"/>
              <a:t>Subject Code: DSE 4406</a:t>
            </a:r>
          </a:p>
          <a:p>
            <a:endParaRPr lang="en-US" dirty="0"/>
          </a:p>
          <a:p>
            <a:endParaRPr lang="en-US" dirty="0">
              <a:solidFill>
                <a:schemeClr val="tx1">
                  <a:lumMod val="75000"/>
                  <a:lumOff val="25000"/>
                </a:schemeClr>
              </a:solidFill>
            </a:endParaRPr>
          </a:p>
        </p:txBody>
      </p:sp>
      <p:sp>
        <p:nvSpPr>
          <p:cNvPr id="13" name="Rectangle 12">
            <a:extLst>
              <a:ext uri="{FF2B5EF4-FFF2-40B4-BE49-F238E27FC236}">
                <a16:creationId xmlns:a16="http://schemas.microsoft.com/office/drawing/2014/main" id="{F5B41592-BC5E-4AE2-8CA7-91C73FD8F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B574A3D-9991-4D4A-91DF-0D0DE47DB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5A56255-4961-41E1-887B-7319F23C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eginner's Guide to Using a Hobby Greenhouse ~ Homestead and Chill">
            <a:extLst>
              <a:ext uri="{FF2B5EF4-FFF2-40B4-BE49-F238E27FC236}">
                <a16:creationId xmlns:a16="http://schemas.microsoft.com/office/drawing/2014/main" id="{F02B8A2C-3143-DD4A-D604-4B7EE7AB50EB}"/>
              </a:ext>
            </a:extLst>
          </p:cNvPr>
          <p:cNvPicPr>
            <a:picLocks noChangeAspect="1"/>
          </p:cNvPicPr>
          <p:nvPr/>
        </p:nvPicPr>
        <p:blipFill>
          <a:blip r:embed="rId3" cstate="print">
            <a:extLst>
              <a:ext uri="{28A0092B-C50C-407E-A947-70E740481C1C}">
                <a14:useLocalDpi xmlns:a14="http://schemas.microsoft.com/office/drawing/2010/main" val="0"/>
              </a:ext>
            </a:extLst>
          </a:blip>
          <a:srcRect t="3536" r="3" b="3"/>
          <a:stretch>
            <a:fillRect/>
          </a:stretch>
        </p:blipFill>
        <p:spPr bwMode="auto">
          <a:xfrm>
            <a:off x="6859936" y="-2"/>
            <a:ext cx="5332064" cy="6858002"/>
          </a:xfrm>
          <a:prstGeom prst="rect">
            <a:avLst/>
          </a:prstGeom>
          <a:noFill/>
        </p:spPr>
      </p:pic>
    </p:spTree>
    <p:extLst>
      <p:ext uri="{BB962C8B-B14F-4D97-AF65-F5344CB8AC3E}">
        <p14:creationId xmlns:p14="http://schemas.microsoft.com/office/powerpoint/2010/main" val="870242669"/>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F0C371E6-3879-DA22-062B-5B63FE47251B}"/>
              </a:ext>
            </a:extLst>
          </p:cNvPr>
          <p:cNvPicPr>
            <a:picLocks noGrp="1" noChangeAspect="1"/>
          </p:cNvPicPr>
          <p:nvPr>
            <p:ph type="pic" idx="1"/>
          </p:nvPr>
        </p:nvPicPr>
        <p:blipFill>
          <a:blip r:embed="rId3"/>
          <a:srcRect l="15984" r="15984"/>
          <a:stretch>
            <a:fillRect/>
          </a:stretch>
        </p:blipFill>
        <p:spPr>
          <a:xfrm>
            <a:off x="20" y="719747"/>
            <a:ext cx="4458058" cy="5389675"/>
          </a:xfrm>
          <a:prstGeom prst="rect">
            <a:avLst/>
          </a:prstGeom>
          <a:solidFill>
            <a:srgbClr val="EBEDEB">
              <a:lumMod val="90000"/>
            </a:srgbClr>
          </a:solidFill>
        </p:spPr>
      </p:pic>
      <p:sp>
        <p:nvSpPr>
          <p:cNvPr id="19" name="Rectangle 18">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4911A-0CF8-D94C-0610-048A6E0904A4}"/>
              </a:ext>
            </a:extLst>
          </p:cNvPr>
          <p:cNvSpPr>
            <a:spLocks noGrp="1"/>
          </p:cNvSpPr>
          <p:nvPr>
            <p:ph type="title"/>
          </p:nvPr>
        </p:nvSpPr>
        <p:spPr>
          <a:xfrm>
            <a:off x="4919472" y="1056362"/>
            <a:ext cx="6627226" cy="1154102"/>
          </a:xfrm>
        </p:spPr>
        <p:txBody>
          <a:bodyPr vert="horz" lIns="109728" tIns="109728" rIns="109728" bIns="91440" rtlCol="0" anchor="ctr">
            <a:normAutofit/>
          </a:bodyPr>
          <a:lstStyle/>
          <a:p>
            <a:pPr>
              <a:lnSpc>
                <a:spcPct val="150000"/>
              </a:lnSpc>
            </a:pPr>
            <a:r>
              <a:rPr lang="en-US" sz="3600" dirty="0"/>
              <a:t>2.1 What is </a:t>
            </a:r>
            <a:r>
              <a:rPr lang="en-US" sz="3600" dirty="0" err="1"/>
              <a:t>Wokwi</a:t>
            </a:r>
            <a:r>
              <a:rPr lang="en-US" sz="3600" dirty="0"/>
              <a:t>?</a:t>
            </a:r>
          </a:p>
        </p:txBody>
      </p:sp>
      <p:sp>
        <p:nvSpPr>
          <p:cNvPr id="23" name="Rectangle 22">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4331F708-CA0C-3E14-B7C5-BDF4C8DC4F10}"/>
              </a:ext>
            </a:extLst>
          </p:cNvPr>
          <p:cNvSpPr>
            <a:spLocks noGrp="1"/>
          </p:cNvSpPr>
          <p:nvPr>
            <p:ph type="body" sz="half" idx="2"/>
          </p:nvPr>
        </p:nvSpPr>
        <p:spPr>
          <a:xfrm>
            <a:off x="4921857" y="2268656"/>
            <a:ext cx="6627226" cy="3505938"/>
          </a:xfrm>
        </p:spPr>
        <p:txBody>
          <a:bodyPr vert="horz" lIns="109728" tIns="109728" rIns="109728" bIns="91440" rtlCol="0" anchor="t">
            <a:normAutofit/>
          </a:bodyPr>
          <a:lstStyle/>
          <a:p>
            <a:pPr marL="285750" indent="-285750">
              <a:spcBef>
                <a:spcPts val="930"/>
              </a:spcBef>
              <a:buFont typeface="Arial" panose="020B0604020202020204" pitchFamily="34" charset="0"/>
              <a:buChar char="•"/>
            </a:pPr>
            <a:r>
              <a:rPr lang="en-US" sz="1400" dirty="0" err="1"/>
              <a:t>Wokwi</a:t>
            </a:r>
            <a:r>
              <a:rPr lang="en-US" sz="1400" dirty="0"/>
              <a:t> is an online simulation platform designed for electronics and IoT projects. </a:t>
            </a:r>
          </a:p>
          <a:p>
            <a:pPr marL="285750" indent="-285750">
              <a:spcBef>
                <a:spcPts val="930"/>
              </a:spcBef>
              <a:buFont typeface="Arial" panose="020B0604020202020204" pitchFamily="34" charset="0"/>
              <a:buChar char="•"/>
            </a:pPr>
            <a:r>
              <a:rPr lang="en-US" sz="1400" dirty="0"/>
              <a:t>It allows users to virtually build, test, and debug circuits using microcontrollers like Arduino, ESP32, and Raspberry Pi.</a:t>
            </a:r>
          </a:p>
          <a:p>
            <a:pPr marL="285750" indent="-285750">
              <a:spcBef>
                <a:spcPts val="930"/>
              </a:spcBef>
              <a:buFont typeface="Arial" panose="020B0604020202020204" pitchFamily="34" charset="0"/>
              <a:buChar char="•"/>
            </a:pPr>
            <a:r>
              <a:rPr lang="en-US" sz="1400" dirty="0"/>
              <a:t>It supports collaboration and sharing of projects, enabling students and developers to visualize and troubleshoot circuits before moving to real hardware.</a:t>
            </a:r>
          </a:p>
          <a:p>
            <a:pPr marL="285750" indent="-285750">
              <a:spcBef>
                <a:spcPts val="930"/>
              </a:spcBef>
              <a:buFont typeface="Arial" panose="020B0604020202020204" pitchFamily="34" charset="0"/>
              <a:buChar char="•"/>
            </a:pPr>
            <a:endParaRPr lang="en-US" sz="1400" dirty="0"/>
          </a:p>
        </p:txBody>
      </p:sp>
      <p:sp>
        <p:nvSpPr>
          <p:cNvPr id="25" name="Rectangle 24">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9438737"/>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AF73F7-35EB-2067-744B-DD200E42CC6F}"/>
              </a:ext>
            </a:extLst>
          </p:cNvPr>
          <p:cNvSpPr txBox="1"/>
          <p:nvPr/>
        </p:nvSpPr>
        <p:spPr>
          <a:xfrm>
            <a:off x="1442720" y="314961"/>
            <a:ext cx="9966960" cy="646331"/>
          </a:xfrm>
          <a:prstGeom prst="rect">
            <a:avLst/>
          </a:prstGeom>
          <a:noFill/>
        </p:spPr>
        <p:txBody>
          <a:bodyPr wrap="square" rtlCol="0">
            <a:spAutoFit/>
          </a:bodyPr>
          <a:lstStyle/>
          <a:p>
            <a:pPr algn="ctr"/>
            <a:r>
              <a:rPr lang="en-US" sz="3600" b="1" dirty="0">
                <a:latin typeface="+mj-lt"/>
              </a:rPr>
              <a:t>2.2 Supported boards and components:</a:t>
            </a:r>
          </a:p>
        </p:txBody>
      </p:sp>
      <p:sp>
        <p:nvSpPr>
          <p:cNvPr id="4" name="TextBox 3">
            <a:extLst>
              <a:ext uri="{FF2B5EF4-FFF2-40B4-BE49-F238E27FC236}">
                <a16:creationId xmlns:a16="http://schemas.microsoft.com/office/drawing/2014/main" id="{63776795-3C76-7BD0-5FDC-57D6B31B3D60}"/>
              </a:ext>
            </a:extLst>
          </p:cNvPr>
          <p:cNvSpPr txBox="1"/>
          <p:nvPr/>
        </p:nvSpPr>
        <p:spPr>
          <a:xfrm>
            <a:off x="782320" y="948690"/>
            <a:ext cx="5598160" cy="5909310"/>
          </a:xfrm>
          <a:prstGeom prst="rect">
            <a:avLst/>
          </a:prstGeom>
          <a:noFill/>
        </p:spPr>
        <p:txBody>
          <a:bodyPr wrap="square" rtlCol="0">
            <a:spAutoFit/>
          </a:bodyPr>
          <a:lstStyle/>
          <a:p>
            <a:r>
              <a:rPr lang="en-US" sz="1400" dirty="0"/>
              <a:t>a.) Microcontroller Boards:</a:t>
            </a:r>
          </a:p>
          <a:p>
            <a:pPr marL="342900" indent="-342900">
              <a:buFont typeface="+mj-lt"/>
              <a:buAutoNum type="arabicPeriod"/>
            </a:pPr>
            <a:r>
              <a:rPr lang="en-US" sz="1400" dirty="0"/>
              <a:t>Arduino Uno (ATmega328P)</a:t>
            </a:r>
          </a:p>
          <a:p>
            <a:pPr marL="342900" indent="-342900">
              <a:buFont typeface="+mj-lt"/>
              <a:buAutoNum type="arabicPeriod"/>
            </a:pPr>
            <a:r>
              <a:rPr lang="en-US" sz="1400" dirty="0"/>
              <a:t>Arduino Nano</a:t>
            </a:r>
          </a:p>
          <a:p>
            <a:pPr marL="342900" indent="-342900">
              <a:buFont typeface="+mj-lt"/>
              <a:buAutoNum type="arabicPeriod"/>
            </a:pPr>
            <a:r>
              <a:rPr lang="en-US" sz="1400" dirty="0"/>
              <a:t>Arduino Mega (ATmega2560)</a:t>
            </a:r>
          </a:p>
          <a:p>
            <a:pPr marL="342900" indent="-342900">
              <a:buFont typeface="+mj-lt"/>
              <a:buAutoNum type="arabicPeriod"/>
            </a:pPr>
            <a:r>
              <a:rPr lang="en-US" sz="1400" dirty="0"/>
              <a:t>ESP32 family (ESP32, ESP32-S2, ESP32-S3)</a:t>
            </a:r>
          </a:p>
          <a:p>
            <a:pPr marL="342900" indent="-342900">
              <a:buFont typeface="+mj-lt"/>
              <a:buAutoNum type="arabicPeriod"/>
            </a:pPr>
            <a:r>
              <a:rPr lang="en-US" sz="1400" dirty="0"/>
              <a:t>ESP32-C3 / C6 / H2</a:t>
            </a:r>
          </a:p>
          <a:p>
            <a:pPr marL="342900" indent="-342900">
              <a:buFont typeface="+mj-lt"/>
              <a:buAutoNum type="arabicPeriod"/>
            </a:pPr>
            <a:r>
              <a:rPr lang="en-US" sz="1400" dirty="0"/>
              <a:t>Raspberry Pi Pico (RP2040)</a:t>
            </a:r>
          </a:p>
          <a:p>
            <a:pPr marL="342900" indent="-342900">
              <a:buFont typeface="+mj-lt"/>
              <a:buAutoNum type="arabicPeriod"/>
            </a:pPr>
            <a:r>
              <a:rPr lang="en-US" sz="1400" dirty="0"/>
              <a:t>ATtiny85</a:t>
            </a:r>
          </a:p>
          <a:p>
            <a:pPr marL="342900" indent="-342900">
              <a:buFont typeface="+mj-lt"/>
              <a:buAutoNum type="arabicPeriod"/>
            </a:pPr>
            <a:r>
              <a:rPr lang="en-US" sz="1400" dirty="0"/>
              <a:t>STM32 boards (e.g., STM32F103, STM32C031)</a:t>
            </a:r>
          </a:p>
          <a:p>
            <a:endParaRPr lang="en-US" sz="1400" dirty="0"/>
          </a:p>
          <a:p>
            <a:r>
              <a:rPr lang="en-US" sz="1400" dirty="0"/>
              <a:t>b.) Sensors:</a:t>
            </a:r>
          </a:p>
          <a:p>
            <a:pPr marL="342900" indent="-342900">
              <a:buFont typeface="+mj-lt"/>
              <a:buAutoNum type="arabicPeriod"/>
            </a:pPr>
            <a:r>
              <a:rPr lang="en-US" sz="1400" dirty="0"/>
              <a:t>DHT22 temperature &amp; humidity sensor</a:t>
            </a:r>
          </a:p>
          <a:p>
            <a:pPr marL="342900" indent="-342900">
              <a:buFont typeface="+mj-lt"/>
              <a:buAutoNum type="arabicPeriod"/>
            </a:pPr>
            <a:r>
              <a:rPr lang="en-US" sz="1400" dirty="0"/>
              <a:t>HC-SR04 ultrasonic distance sensor</a:t>
            </a:r>
          </a:p>
          <a:p>
            <a:pPr marL="342900" indent="-342900">
              <a:buFont typeface="+mj-lt"/>
              <a:buAutoNum type="arabicPeriod"/>
            </a:pPr>
            <a:r>
              <a:rPr lang="en-US" sz="1400" dirty="0"/>
              <a:t>PIR motion sensor</a:t>
            </a:r>
          </a:p>
          <a:p>
            <a:pPr marL="342900" indent="-342900">
              <a:buFont typeface="+mj-lt"/>
              <a:buAutoNum type="arabicPeriod"/>
            </a:pPr>
            <a:r>
              <a:rPr lang="en-US" sz="1400" dirty="0"/>
              <a:t>DS18B20 temperature sensor</a:t>
            </a:r>
          </a:p>
          <a:p>
            <a:pPr marL="342900" indent="-342900">
              <a:buFont typeface="+mj-lt"/>
              <a:buAutoNum type="arabicPeriod"/>
            </a:pPr>
            <a:r>
              <a:rPr lang="en-US" sz="1400" dirty="0"/>
              <a:t>Photoresistor (LDR) light sensor</a:t>
            </a:r>
          </a:p>
          <a:p>
            <a:pPr marL="342900" indent="-342900">
              <a:buFont typeface="+mj-lt"/>
              <a:buAutoNum type="arabicPeriod"/>
            </a:pPr>
            <a:r>
              <a:rPr lang="en-US" sz="1400" dirty="0"/>
              <a:t>MQ-2 gas sensor</a:t>
            </a:r>
          </a:p>
          <a:p>
            <a:pPr marL="342900" indent="-342900">
              <a:buFont typeface="+mj-lt"/>
              <a:buAutoNum type="arabicPeriod"/>
            </a:pPr>
            <a:r>
              <a:rPr lang="en-US" sz="1400" dirty="0"/>
              <a:t>BMP180 pressure sensor</a:t>
            </a:r>
          </a:p>
          <a:p>
            <a:pPr marL="342900" indent="-342900">
              <a:buFont typeface="+mj-lt"/>
              <a:buAutoNum type="arabicPeriod"/>
            </a:pPr>
            <a:r>
              <a:rPr lang="en-US" sz="1400" dirty="0"/>
              <a:t>MPU6050 accelerometer + gyroscope</a:t>
            </a:r>
          </a:p>
          <a:p>
            <a:pPr marL="342900" indent="-342900">
              <a:buFont typeface="+mj-lt"/>
              <a:buAutoNum type="arabicPeriod"/>
            </a:pPr>
            <a:endParaRPr lang="en-US" sz="1400" dirty="0"/>
          </a:p>
          <a:p>
            <a:r>
              <a:rPr lang="en-US" sz="1400" dirty="0"/>
              <a:t>c.) Input Components:</a:t>
            </a:r>
          </a:p>
          <a:p>
            <a:pPr marL="228600" indent="-228600">
              <a:buFont typeface="+mj-lt"/>
              <a:buAutoNum type="arabicPeriod"/>
            </a:pPr>
            <a:r>
              <a:rPr lang="en-US" sz="1400" dirty="0"/>
              <a:t>Push buttons</a:t>
            </a:r>
          </a:p>
          <a:p>
            <a:pPr marL="228600" indent="-228600">
              <a:buFont typeface="+mj-lt"/>
              <a:buAutoNum type="arabicPeriod"/>
            </a:pPr>
            <a:r>
              <a:rPr lang="en-US" sz="1400" dirty="0"/>
              <a:t>Slide switches</a:t>
            </a:r>
          </a:p>
          <a:p>
            <a:pPr marL="228600" indent="-228600">
              <a:buFont typeface="+mj-lt"/>
              <a:buAutoNum type="arabicPeriod"/>
            </a:pPr>
            <a:r>
              <a:rPr lang="en-US" sz="1400" dirty="0"/>
              <a:t>4×4 keypad</a:t>
            </a:r>
          </a:p>
          <a:p>
            <a:pPr marL="228600" indent="-228600">
              <a:buFont typeface="+mj-lt"/>
              <a:buAutoNum type="arabicPeriod"/>
            </a:pPr>
            <a:r>
              <a:rPr lang="en-US" sz="1400" dirty="0"/>
              <a:t>Potentiometers</a:t>
            </a:r>
          </a:p>
          <a:p>
            <a:pPr marL="228600" indent="-228600">
              <a:buFont typeface="+mj-lt"/>
              <a:buAutoNum type="arabicPeriod"/>
            </a:pPr>
            <a:r>
              <a:rPr lang="en-US" sz="1400" dirty="0"/>
              <a:t>Rotary encoder</a:t>
            </a:r>
          </a:p>
          <a:p>
            <a:pPr marL="228600" indent="-228600">
              <a:buFont typeface="+mj-lt"/>
              <a:buAutoNum type="arabicPeriod"/>
            </a:pPr>
            <a:r>
              <a:rPr lang="en-US" sz="1400" dirty="0"/>
              <a:t>Analog joystick</a:t>
            </a:r>
          </a:p>
        </p:txBody>
      </p:sp>
      <p:sp>
        <p:nvSpPr>
          <p:cNvPr id="10" name="TextBox 9">
            <a:extLst>
              <a:ext uri="{FF2B5EF4-FFF2-40B4-BE49-F238E27FC236}">
                <a16:creationId xmlns:a16="http://schemas.microsoft.com/office/drawing/2014/main" id="{362ED1C0-3B97-0746-7E19-EE5B6EB781AF}"/>
              </a:ext>
            </a:extLst>
          </p:cNvPr>
          <p:cNvSpPr txBox="1"/>
          <p:nvPr/>
        </p:nvSpPr>
        <p:spPr>
          <a:xfrm>
            <a:off x="6522720" y="967544"/>
            <a:ext cx="5313680" cy="4616648"/>
          </a:xfrm>
          <a:prstGeom prst="rect">
            <a:avLst/>
          </a:prstGeom>
          <a:noFill/>
        </p:spPr>
        <p:txBody>
          <a:bodyPr wrap="square" rtlCol="0">
            <a:spAutoFit/>
          </a:bodyPr>
          <a:lstStyle/>
          <a:p>
            <a:r>
              <a:rPr lang="en-US" sz="1400" dirty="0"/>
              <a:t>d.) Displays:</a:t>
            </a:r>
          </a:p>
          <a:p>
            <a:pPr marL="228600" indent="-228600">
              <a:buFont typeface="+mj-lt"/>
              <a:buAutoNum type="arabicPeriod"/>
            </a:pPr>
            <a:r>
              <a:rPr lang="en-US" sz="1400" dirty="0"/>
              <a:t>LCD 1602 (16×2 LCD)</a:t>
            </a:r>
          </a:p>
          <a:p>
            <a:pPr marL="228600" indent="-228600">
              <a:buFont typeface="+mj-lt"/>
              <a:buAutoNum type="arabicPeriod"/>
            </a:pPr>
            <a:r>
              <a:rPr lang="en-US" sz="1400" dirty="0"/>
              <a:t>LCD 2004 (20×4 LCD)</a:t>
            </a:r>
          </a:p>
          <a:p>
            <a:pPr marL="228600" indent="-228600">
              <a:buFont typeface="+mj-lt"/>
              <a:buAutoNum type="arabicPeriod"/>
            </a:pPr>
            <a:r>
              <a:rPr lang="en-US" sz="1400" dirty="0"/>
              <a:t>SSD1306 OLED display</a:t>
            </a:r>
          </a:p>
          <a:p>
            <a:pPr marL="228600" indent="-228600">
              <a:buFont typeface="+mj-lt"/>
              <a:buAutoNum type="arabicPeriod"/>
            </a:pPr>
            <a:r>
              <a:rPr lang="en-US" sz="1400" dirty="0"/>
              <a:t>Nokia 5110 LCD</a:t>
            </a:r>
          </a:p>
          <a:p>
            <a:pPr marL="228600" indent="-228600">
              <a:buFont typeface="+mj-lt"/>
              <a:buAutoNum type="arabicPeriod"/>
            </a:pPr>
            <a:r>
              <a:rPr lang="en-US" sz="1400" dirty="0"/>
              <a:t>Seven-segment displays</a:t>
            </a:r>
          </a:p>
          <a:p>
            <a:pPr marL="228600" indent="-228600">
              <a:buFont typeface="+mj-lt"/>
              <a:buAutoNum type="arabicPeriod"/>
            </a:pPr>
            <a:r>
              <a:rPr lang="en-US" sz="1400" dirty="0"/>
              <a:t>LED matrix (MAX7219)</a:t>
            </a:r>
          </a:p>
          <a:p>
            <a:pPr marL="228600" indent="-228600">
              <a:buFont typeface="+mj-lt"/>
              <a:buAutoNum type="arabicPeriod"/>
            </a:pPr>
            <a:endParaRPr lang="en-US" sz="1400" dirty="0"/>
          </a:p>
          <a:p>
            <a:r>
              <a:rPr lang="en-US" sz="1400" dirty="0"/>
              <a:t>e.) Actuators:</a:t>
            </a:r>
          </a:p>
          <a:p>
            <a:r>
              <a:rPr lang="en-US" sz="1400" dirty="0"/>
              <a:t>Standard LEDs / RGB LEDs</a:t>
            </a:r>
          </a:p>
          <a:p>
            <a:r>
              <a:rPr lang="en-US" sz="1400" dirty="0"/>
              <a:t>Servo motors</a:t>
            </a:r>
          </a:p>
          <a:p>
            <a:r>
              <a:rPr lang="en-US" sz="1400" dirty="0"/>
              <a:t>Stepper motors</a:t>
            </a:r>
          </a:p>
          <a:p>
            <a:r>
              <a:rPr lang="en-US" sz="1400" dirty="0"/>
              <a:t>Buzzers</a:t>
            </a:r>
          </a:p>
          <a:p>
            <a:r>
              <a:rPr lang="en-US" sz="1400" dirty="0"/>
              <a:t>Relay modules</a:t>
            </a:r>
          </a:p>
          <a:p>
            <a:endParaRPr lang="en-US" sz="1400" dirty="0"/>
          </a:p>
          <a:p>
            <a:r>
              <a:rPr lang="en-US" sz="1400" dirty="0"/>
              <a:t>f.) Other Electronic Components:</a:t>
            </a:r>
          </a:p>
          <a:p>
            <a:r>
              <a:rPr lang="en-US" sz="1400" dirty="0"/>
              <a:t>Resistors</a:t>
            </a:r>
          </a:p>
          <a:p>
            <a:r>
              <a:rPr lang="en-US" sz="1400" dirty="0"/>
              <a:t>Breadboards</a:t>
            </a:r>
          </a:p>
          <a:p>
            <a:r>
              <a:rPr lang="en-US" sz="1400" dirty="0"/>
              <a:t>Shift registers (74HC595, 74HC165)</a:t>
            </a:r>
          </a:p>
          <a:p>
            <a:r>
              <a:rPr lang="en-US" sz="1400" dirty="0"/>
              <a:t>MicroSD card module</a:t>
            </a:r>
          </a:p>
          <a:p>
            <a:r>
              <a:rPr lang="en-US" sz="1400" dirty="0"/>
              <a:t>Logic analyzer</a:t>
            </a:r>
          </a:p>
        </p:txBody>
      </p:sp>
    </p:spTree>
    <p:extLst>
      <p:ext uri="{BB962C8B-B14F-4D97-AF65-F5344CB8AC3E}">
        <p14:creationId xmlns:p14="http://schemas.microsoft.com/office/powerpoint/2010/main" val="1346245909"/>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72FF09-39BE-1075-7DE2-98217F9B62A5}"/>
              </a:ext>
            </a:extLst>
          </p:cNvPr>
          <p:cNvSpPr txBox="1"/>
          <p:nvPr/>
        </p:nvSpPr>
        <p:spPr>
          <a:xfrm>
            <a:off x="990600" y="239931"/>
            <a:ext cx="10231120" cy="646331"/>
          </a:xfrm>
          <a:prstGeom prst="rect">
            <a:avLst/>
          </a:prstGeom>
          <a:noFill/>
        </p:spPr>
        <p:txBody>
          <a:bodyPr wrap="square" rtlCol="0">
            <a:spAutoFit/>
          </a:bodyPr>
          <a:lstStyle/>
          <a:p>
            <a:pPr algn="ctr"/>
            <a:r>
              <a:rPr lang="en-US" sz="3600" b="1" dirty="0">
                <a:latin typeface="+mj-lt"/>
              </a:rPr>
              <a:t>2.3 Steps Followed:</a:t>
            </a:r>
          </a:p>
        </p:txBody>
      </p:sp>
      <p:sp>
        <p:nvSpPr>
          <p:cNvPr id="3" name="TextBox 2">
            <a:extLst>
              <a:ext uri="{FF2B5EF4-FFF2-40B4-BE49-F238E27FC236}">
                <a16:creationId xmlns:a16="http://schemas.microsoft.com/office/drawing/2014/main" id="{490F7936-3502-AA52-DC2A-9251023DCA2A}"/>
              </a:ext>
            </a:extLst>
          </p:cNvPr>
          <p:cNvSpPr txBox="1"/>
          <p:nvPr/>
        </p:nvSpPr>
        <p:spPr>
          <a:xfrm>
            <a:off x="1207008" y="1256792"/>
            <a:ext cx="9777984" cy="4801314"/>
          </a:xfrm>
          <a:prstGeom prst="rect">
            <a:avLst/>
          </a:prstGeom>
          <a:noFill/>
        </p:spPr>
        <p:txBody>
          <a:bodyPr wrap="square" rtlCol="0">
            <a:spAutoFit/>
          </a:bodyPr>
          <a:lstStyle/>
          <a:p>
            <a:pPr marL="342900" indent="-342900">
              <a:buAutoNum type="arabicPeriod"/>
            </a:pPr>
            <a:r>
              <a:rPr lang="en-US" dirty="0"/>
              <a:t>Account Creation – Signed up on the </a:t>
            </a:r>
            <a:r>
              <a:rPr lang="en-US" dirty="0" err="1"/>
              <a:t>Wokwi</a:t>
            </a:r>
            <a:r>
              <a:rPr lang="en-US" dirty="0"/>
              <a:t> platform to access the simulation tools. </a:t>
            </a:r>
          </a:p>
          <a:p>
            <a:pPr marL="342900" indent="-342900">
              <a:buAutoNum type="arabicPeriod"/>
            </a:pPr>
            <a:endParaRPr lang="en-US" dirty="0"/>
          </a:p>
          <a:p>
            <a:pPr marL="342900" indent="-342900">
              <a:buAutoNum type="arabicPeriod"/>
            </a:pPr>
            <a:r>
              <a:rPr lang="en-US" dirty="0"/>
              <a:t>Creating a New Project – Started a new project workspace for the intended IoT/circuit application. </a:t>
            </a:r>
          </a:p>
          <a:p>
            <a:pPr marL="342900" indent="-342900">
              <a:buAutoNum type="arabicPeriod"/>
            </a:pPr>
            <a:endParaRPr lang="en-US" dirty="0"/>
          </a:p>
          <a:p>
            <a:pPr marL="342900" indent="-342900">
              <a:buAutoNum type="arabicPeriod"/>
            </a:pPr>
            <a:r>
              <a:rPr lang="en-US" dirty="0"/>
              <a:t>Adding Components – Selected and placed the required microcontroller, sensors, actuators, and other electronic components. </a:t>
            </a:r>
          </a:p>
          <a:p>
            <a:pPr marL="342900" indent="-342900">
              <a:buAutoNum type="arabicPeriod"/>
            </a:pPr>
            <a:endParaRPr lang="en-US" dirty="0"/>
          </a:p>
          <a:p>
            <a:pPr marL="342900" indent="-342900">
              <a:buAutoNum type="arabicPeriod"/>
            </a:pPr>
            <a:r>
              <a:rPr lang="en-US" dirty="0"/>
              <a:t>Connecting the Circuit – Made virtual connections between components using wires, simulating a real circuit setup. </a:t>
            </a:r>
          </a:p>
          <a:p>
            <a:pPr marL="342900" indent="-342900">
              <a:buAutoNum type="arabicPeriod"/>
            </a:pPr>
            <a:endParaRPr lang="en-US" dirty="0"/>
          </a:p>
          <a:p>
            <a:pPr marL="342900" indent="-342900">
              <a:buAutoNum type="arabicPeriod"/>
            </a:pPr>
            <a:r>
              <a:rPr lang="en-US" dirty="0"/>
              <a:t>Writing Code – Programmed the microcontroller using ESP32 to control the sensors and actuators. </a:t>
            </a:r>
          </a:p>
          <a:p>
            <a:pPr marL="342900" indent="-342900">
              <a:buAutoNum type="arabicPeriod"/>
            </a:pPr>
            <a:endParaRPr lang="en-US" dirty="0"/>
          </a:p>
          <a:p>
            <a:pPr marL="342900" indent="-342900">
              <a:buAutoNum type="arabicPeriod"/>
            </a:pPr>
            <a:r>
              <a:rPr lang="en-US" dirty="0"/>
              <a:t>Running Simulation – Tested and observed the behavior of the circuit in real time, debugging and modifying code as needed.</a:t>
            </a:r>
          </a:p>
        </p:txBody>
      </p:sp>
    </p:spTree>
    <p:extLst>
      <p:ext uri="{BB962C8B-B14F-4D97-AF65-F5344CB8AC3E}">
        <p14:creationId xmlns:p14="http://schemas.microsoft.com/office/powerpoint/2010/main" val="3680605447"/>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2" name="Rectangle 11">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5508"/>
            <a:ext cx="4668819"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503AE5-4BAB-74C3-6379-CEC459E3CD12}"/>
              </a:ext>
            </a:extLst>
          </p:cNvPr>
          <p:cNvSpPr>
            <a:spLocks noGrp="1"/>
          </p:cNvSpPr>
          <p:nvPr>
            <p:ph type="title"/>
          </p:nvPr>
        </p:nvSpPr>
        <p:spPr>
          <a:xfrm>
            <a:off x="463825" y="1709530"/>
            <a:ext cx="3754671" cy="2528515"/>
          </a:xfrm>
        </p:spPr>
        <p:txBody>
          <a:bodyPr vert="horz" lIns="109728" tIns="109728" rIns="109728" bIns="91440" rtlCol="0" anchor="b">
            <a:normAutofit/>
          </a:bodyPr>
          <a:lstStyle/>
          <a:p>
            <a:pPr>
              <a:lnSpc>
                <a:spcPct val="125000"/>
              </a:lnSpc>
            </a:pPr>
            <a:r>
              <a:rPr lang="en-US" b="0" cap="all">
                <a:solidFill>
                  <a:schemeClr val="bg1"/>
                </a:solidFill>
              </a:rPr>
              <a:t>2.4 Project Dashboard</a:t>
            </a:r>
          </a:p>
        </p:txBody>
      </p:sp>
      <p:sp>
        <p:nvSpPr>
          <p:cNvPr id="18" name="Rectangle 17">
            <a:extLst>
              <a:ext uri="{FF2B5EF4-FFF2-40B4-BE49-F238E27FC236}">
                <a16:creationId xmlns:a16="http://schemas.microsoft.com/office/drawing/2014/main" id="{BBD49B71-B686-4DFD-93AD-40CB19B62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066" y="0"/>
            <a:ext cx="7519934"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653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Content Placeholder 31">
            <a:extLst>
              <a:ext uri="{FF2B5EF4-FFF2-40B4-BE49-F238E27FC236}">
                <a16:creationId xmlns:a16="http://schemas.microsoft.com/office/drawing/2014/main" id="{F4C787DE-3AF6-E70F-8913-B3C026B2DE9F}"/>
              </a:ext>
            </a:extLst>
          </p:cNvPr>
          <p:cNvPicPr>
            <a:picLocks noGrp="1" noChangeAspect="1"/>
          </p:cNvPicPr>
          <p:nvPr>
            <p:ph idx="1"/>
          </p:nvPr>
        </p:nvPicPr>
        <p:blipFill>
          <a:blip r:embed="rId2"/>
          <a:stretch>
            <a:fillRect/>
          </a:stretch>
        </p:blipFill>
        <p:spPr>
          <a:xfrm>
            <a:off x="4668818" y="1709530"/>
            <a:ext cx="7519412" cy="3689603"/>
          </a:xfrm>
          <a:prstGeom prst="rect">
            <a:avLst/>
          </a:prstGeom>
        </p:spPr>
      </p:pic>
    </p:spTree>
    <p:extLst>
      <p:ext uri="{BB962C8B-B14F-4D97-AF65-F5344CB8AC3E}">
        <p14:creationId xmlns:p14="http://schemas.microsoft.com/office/powerpoint/2010/main" val="1367955933"/>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07DBC5C-3837-12EC-0840-0AF809E7E87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5" name="Rectangle 14">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31500"/>
            <a:ext cx="7534656" cy="511290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4078"/>
            <a:ext cx="4641096" cy="1056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7" y="1095508"/>
            <a:ext cx="4606533"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2E38F71-FBCF-8E55-CD19-5BE32C77DF83}"/>
              </a:ext>
            </a:extLst>
          </p:cNvPr>
          <p:cNvSpPr txBox="1"/>
          <p:nvPr/>
        </p:nvSpPr>
        <p:spPr>
          <a:xfrm>
            <a:off x="7973503" y="1709530"/>
            <a:ext cx="3754671" cy="2528515"/>
          </a:xfrm>
          <a:prstGeom prst="rect">
            <a:avLst/>
          </a:prstGeom>
        </p:spPr>
        <p:txBody>
          <a:bodyPr vert="horz" lIns="109728" tIns="109728" rIns="109728" bIns="91440" rtlCol="0" anchor="b">
            <a:normAutofit/>
          </a:bodyPr>
          <a:lstStyle/>
          <a:p>
            <a:pPr>
              <a:lnSpc>
                <a:spcPct val="125000"/>
              </a:lnSpc>
              <a:spcBef>
                <a:spcPct val="0"/>
              </a:spcBef>
              <a:spcAft>
                <a:spcPts val="600"/>
              </a:spcAft>
            </a:pPr>
            <a:r>
              <a:rPr lang="en-US" sz="3600" cap="all" spc="150">
                <a:solidFill>
                  <a:schemeClr val="bg1"/>
                </a:solidFill>
                <a:latin typeface="+mj-lt"/>
                <a:ea typeface="+mj-ea"/>
                <a:cs typeface="+mj-cs"/>
              </a:rPr>
              <a:t>2.5 Circuit Layout:</a:t>
            </a:r>
          </a:p>
        </p:txBody>
      </p:sp>
      <p:sp>
        <p:nvSpPr>
          <p:cNvPr id="27" name="Rectangle 26">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9690C79-4AB6-5B41-37D0-671793852853}"/>
              </a:ext>
            </a:extLst>
          </p:cNvPr>
          <p:cNvPicPr>
            <a:picLocks noChangeAspect="1"/>
          </p:cNvPicPr>
          <p:nvPr/>
        </p:nvPicPr>
        <p:blipFill>
          <a:blip r:embed="rId2"/>
          <a:stretch>
            <a:fillRect/>
          </a:stretch>
        </p:blipFill>
        <p:spPr>
          <a:xfrm>
            <a:off x="83879" y="1095507"/>
            <a:ext cx="7311335" cy="5048897"/>
          </a:xfrm>
          <a:prstGeom prst="rect">
            <a:avLst/>
          </a:prstGeom>
        </p:spPr>
      </p:pic>
    </p:spTree>
    <p:extLst>
      <p:ext uri="{BB962C8B-B14F-4D97-AF65-F5344CB8AC3E}">
        <p14:creationId xmlns:p14="http://schemas.microsoft.com/office/powerpoint/2010/main" val="2247057729"/>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ED4A-0E68-8D37-F3A3-8F8F4487EF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21BD51-35A2-F4CD-84CE-DFEEF9A792E9}"/>
              </a:ext>
            </a:extLst>
          </p:cNvPr>
          <p:cNvSpPr txBox="1"/>
          <p:nvPr/>
        </p:nvSpPr>
        <p:spPr>
          <a:xfrm>
            <a:off x="990600" y="239931"/>
            <a:ext cx="10231120" cy="646331"/>
          </a:xfrm>
          <a:prstGeom prst="rect">
            <a:avLst/>
          </a:prstGeom>
          <a:noFill/>
        </p:spPr>
        <p:txBody>
          <a:bodyPr wrap="square" rtlCol="0">
            <a:spAutoFit/>
          </a:bodyPr>
          <a:lstStyle/>
          <a:p>
            <a:pPr algn="ctr"/>
            <a:r>
              <a:rPr lang="en-US" sz="3600" b="1" dirty="0">
                <a:latin typeface="+mj-lt"/>
              </a:rPr>
              <a:t>2.6 Running Simulation:</a:t>
            </a:r>
          </a:p>
        </p:txBody>
      </p:sp>
      <p:pic>
        <p:nvPicPr>
          <p:cNvPr id="8" name="Picture 7">
            <a:extLst>
              <a:ext uri="{FF2B5EF4-FFF2-40B4-BE49-F238E27FC236}">
                <a16:creationId xmlns:a16="http://schemas.microsoft.com/office/drawing/2014/main" id="{12E319CD-E9E9-6841-2E50-8D91933BEDD3}"/>
              </a:ext>
            </a:extLst>
          </p:cNvPr>
          <p:cNvPicPr>
            <a:picLocks noChangeAspect="1"/>
          </p:cNvPicPr>
          <p:nvPr/>
        </p:nvPicPr>
        <p:blipFill>
          <a:blip r:embed="rId2"/>
          <a:stretch>
            <a:fillRect/>
          </a:stretch>
        </p:blipFill>
        <p:spPr>
          <a:xfrm>
            <a:off x="40388" y="1531017"/>
            <a:ext cx="6055612" cy="4282639"/>
          </a:xfrm>
          <a:prstGeom prst="rect">
            <a:avLst/>
          </a:prstGeom>
        </p:spPr>
      </p:pic>
      <p:pic>
        <p:nvPicPr>
          <p:cNvPr id="10" name="Picture 9">
            <a:extLst>
              <a:ext uri="{FF2B5EF4-FFF2-40B4-BE49-F238E27FC236}">
                <a16:creationId xmlns:a16="http://schemas.microsoft.com/office/drawing/2014/main" id="{9F517E18-D4C6-F0E9-04A1-9A86E123A523}"/>
              </a:ext>
            </a:extLst>
          </p:cNvPr>
          <p:cNvPicPr>
            <a:picLocks noChangeAspect="1"/>
          </p:cNvPicPr>
          <p:nvPr/>
        </p:nvPicPr>
        <p:blipFill>
          <a:blip r:embed="rId3"/>
          <a:stretch>
            <a:fillRect/>
          </a:stretch>
        </p:blipFill>
        <p:spPr>
          <a:xfrm>
            <a:off x="6096000" y="1531017"/>
            <a:ext cx="6096001" cy="4338686"/>
          </a:xfrm>
          <a:prstGeom prst="rect">
            <a:avLst/>
          </a:prstGeom>
        </p:spPr>
      </p:pic>
    </p:spTree>
    <p:extLst>
      <p:ext uri="{BB962C8B-B14F-4D97-AF65-F5344CB8AC3E}">
        <p14:creationId xmlns:p14="http://schemas.microsoft.com/office/powerpoint/2010/main" val="3040617491"/>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D905E-19D9-0166-FF94-199CCAD7F0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8F96B7-ADEB-CF08-5F5D-B8AD235077C4}"/>
              </a:ext>
            </a:extLst>
          </p:cNvPr>
          <p:cNvSpPr txBox="1"/>
          <p:nvPr/>
        </p:nvSpPr>
        <p:spPr>
          <a:xfrm>
            <a:off x="990600" y="239931"/>
            <a:ext cx="10231120" cy="646331"/>
          </a:xfrm>
          <a:prstGeom prst="rect">
            <a:avLst/>
          </a:prstGeom>
          <a:noFill/>
        </p:spPr>
        <p:txBody>
          <a:bodyPr wrap="square" rtlCol="0">
            <a:spAutoFit/>
          </a:bodyPr>
          <a:lstStyle/>
          <a:p>
            <a:pPr algn="ctr"/>
            <a:r>
              <a:rPr lang="en-US" sz="3600" b="1" dirty="0">
                <a:latin typeface="+mj-lt"/>
              </a:rPr>
              <a:t>3. Problem Statement:</a:t>
            </a:r>
          </a:p>
        </p:txBody>
      </p:sp>
      <p:sp>
        <p:nvSpPr>
          <p:cNvPr id="3" name="TextBox 2">
            <a:extLst>
              <a:ext uri="{FF2B5EF4-FFF2-40B4-BE49-F238E27FC236}">
                <a16:creationId xmlns:a16="http://schemas.microsoft.com/office/drawing/2014/main" id="{02D6446F-CE14-677E-3A07-EC289C230419}"/>
              </a:ext>
            </a:extLst>
          </p:cNvPr>
          <p:cNvSpPr txBox="1"/>
          <p:nvPr/>
        </p:nvSpPr>
        <p:spPr>
          <a:xfrm>
            <a:off x="426720" y="1046480"/>
            <a:ext cx="11358880" cy="5909310"/>
          </a:xfrm>
          <a:prstGeom prst="rect">
            <a:avLst/>
          </a:prstGeom>
          <a:noFill/>
        </p:spPr>
        <p:txBody>
          <a:bodyPr wrap="square" rtlCol="0">
            <a:spAutoFit/>
          </a:bodyPr>
          <a:lstStyle/>
          <a:p>
            <a:r>
              <a:rPr lang="en-US" u="sng" dirty="0"/>
              <a:t>Real-World Problem:</a:t>
            </a:r>
          </a:p>
          <a:p>
            <a:r>
              <a:rPr lang="en-US" dirty="0"/>
              <a:t>Greenhouses require precise control of temperature and humidity to support healthy plant growth. Manual monitoring and ventilation are time-consuming, error-prone, and may lead to overheating or excessive humidity, which can damage crops and reduce yield.</a:t>
            </a:r>
          </a:p>
          <a:p>
            <a:r>
              <a:rPr lang="en-US" dirty="0"/>
              <a:t> </a:t>
            </a:r>
          </a:p>
          <a:p>
            <a:r>
              <a:rPr lang="en-US" u="sng" dirty="0"/>
              <a:t>Need for Automation:</a:t>
            </a:r>
          </a:p>
          <a:p>
            <a:r>
              <a:rPr lang="en-US" dirty="0"/>
              <a:t>Automating greenhouse ventilation allows continuous, real-time monitoring and control of environmental conditions. The system should adapt to different plants or seasonal changes without physical action/intervention. Also allows control and monitoring while away from home.</a:t>
            </a:r>
          </a:p>
          <a:p>
            <a:r>
              <a:rPr lang="en-US" dirty="0"/>
              <a:t> </a:t>
            </a:r>
          </a:p>
          <a:p>
            <a:r>
              <a:rPr lang="en-US" u="sng" dirty="0"/>
              <a:t>Target Environment:</a:t>
            </a:r>
          </a:p>
          <a:p>
            <a:r>
              <a:rPr lang="en-US" dirty="0"/>
              <a:t>This system is designed for small to medium-sized greenhouses where temperature and humidity fluctuate due to sunlight, weather, or seasonal variations. It is particularly useful in areas with limited labor availability or for growers who want precise climate control.</a:t>
            </a:r>
          </a:p>
          <a:p>
            <a:r>
              <a:rPr lang="en-US" dirty="0"/>
              <a:t> </a:t>
            </a:r>
          </a:p>
          <a:p>
            <a:r>
              <a:rPr lang="en-US" u="sng" dirty="0"/>
              <a:t>Expected Outcome:</a:t>
            </a:r>
          </a:p>
          <a:p>
            <a:r>
              <a:rPr lang="en-US" dirty="0"/>
              <a:t>The automated system maintains temperature and humidity within user-defined thresholds by controlling the window via a servo motor and activating a fan/LED indicator when needed. Real-time readings and set limits are displayed on two LCDs and the Dashboard, ensuring optimal plant growth, improved yield, and reduced human effort.</a:t>
            </a:r>
          </a:p>
          <a:p>
            <a:endParaRPr lang="en-US" dirty="0"/>
          </a:p>
        </p:txBody>
      </p:sp>
    </p:spTree>
    <p:extLst>
      <p:ext uri="{BB962C8B-B14F-4D97-AF65-F5344CB8AC3E}">
        <p14:creationId xmlns:p14="http://schemas.microsoft.com/office/powerpoint/2010/main" val="255130394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B470308-B9AD-564C-C9F6-7E97F4344583}"/>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7" name="Rectangle 86">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35" y="758246"/>
            <a:ext cx="4658480" cy="53863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D3C90E1-AFAC-6736-70F3-A3B3141686AE}"/>
              </a:ext>
            </a:extLst>
          </p:cNvPr>
          <p:cNvSpPr txBox="1"/>
          <p:nvPr/>
        </p:nvSpPr>
        <p:spPr>
          <a:xfrm>
            <a:off x="642918" y="1072110"/>
            <a:ext cx="3611029" cy="1862345"/>
          </a:xfrm>
          <a:prstGeom prst="rect">
            <a:avLst/>
          </a:prstGeom>
        </p:spPr>
        <p:txBody>
          <a:bodyPr vert="horz" lIns="109728" tIns="109728" rIns="109728" bIns="91440" rtlCol="0" anchor="ctr">
            <a:normAutofit/>
          </a:bodyPr>
          <a:lstStyle/>
          <a:p>
            <a:pPr>
              <a:lnSpc>
                <a:spcPct val="140000"/>
              </a:lnSpc>
              <a:spcBef>
                <a:spcPct val="0"/>
              </a:spcBef>
              <a:spcAft>
                <a:spcPts val="600"/>
              </a:spcAft>
            </a:pPr>
            <a:r>
              <a:rPr lang="en-US" sz="3100" b="1" spc="150" dirty="0">
                <a:solidFill>
                  <a:schemeClr val="tx1">
                    <a:lumMod val="75000"/>
                    <a:lumOff val="25000"/>
                  </a:schemeClr>
                </a:solidFill>
                <a:latin typeface="+mj-lt"/>
                <a:ea typeface="+mj-ea"/>
                <a:cs typeface="+mj-cs"/>
              </a:rPr>
              <a:t>4. IOT Level Identification:</a:t>
            </a:r>
          </a:p>
        </p:txBody>
      </p:sp>
      <p:sp>
        <p:nvSpPr>
          <p:cNvPr id="89" name="Rectangle 88">
            <a:extLst>
              <a:ext uri="{FF2B5EF4-FFF2-40B4-BE49-F238E27FC236}">
                <a16:creationId xmlns:a16="http://schemas.microsoft.com/office/drawing/2014/main" id="{2060C0F7-61A6-4E64-A77E-AFBD8112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84060" y="0"/>
            <a:ext cx="7507940" cy="7652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CB3EE5D-D1D4-52AE-40AB-D772F5CF004A}"/>
              </a:ext>
            </a:extLst>
          </p:cNvPr>
          <p:cNvSpPr txBox="1"/>
          <p:nvPr/>
        </p:nvSpPr>
        <p:spPr>
          <a:xfrm>
            <a:off x="409548" y="2759539"/>
            <a:ext cx="3616073" cy="3146099"/>
          </a:xfrm>
          <a:prstGeom prst="rect">
            <a:avLst/>
          </a:prstGeom>
        </p:spPr>
        <p:txBody>
          <a:bodyPr vert="horz" lIns="109728" tIns="109728" rIns="109728" bIns="91440" rtlCol="0" anchor="t">
            <a:noAutofit/>
          </a:bodyPr>
          <a:lstStyle/>
          <a:p>
            <a:pPr>
              <a:lnSpc>
                <a:spcPct val="130000"/>
              </a:lnSpc>
              <a:spcBef>
                <a:spcPts val="930"/>
              </a:spcBef>
              <a:buFont typeface="Corbel" panose="020B0503020204020204" pitchFamily="34" charset="0"/>
            </a:pPr>
            <a:r>
              <a:rPr lang="en-US" spc="150" dirty="0">
                <a:solidFill>
                  <a:schemeClr val="tx1">
                    <a:lumMod val="75000"/>
                    <a:lumOff val="25000"/>
                  </a:schemeClr>
                </a:solidFill>
              </a:rPr>
              <a:t>Level: Level 2 – Local Analysis and Cloud Application</a:t>
            </a:r>
          </a:p>
          <a:p>
            <a:pPr>
              <a:lnSpc>
                <a:spcPct val="130000"/>
              </a:lnSpc>
              <a:spcBef>
                <a:spcPts val="930"/>
              </a:spcBef>
              <a:buFont typeface="Corbel" panose="020B0503020204020204" pitchFamily="34" charset="0"/>
            </a:pPr>
            <a:endParaRPr lang="en-US" spc="150" dirty="0">
              <a:solidFill>
                <a:schemeClr val="tx1">
                  <a:lumMod val="75000"/>
                  <a:lumOff val="25000"/>
                </a:schemeClr>
              </a:solidFill>
            </a:endParaRPr>
          </a:p>
          <a:p>
            <a:pPr>
              <a:lnSpc>
                <a:spcPct val="130000"/>
              </a:lnSpc>
              <a:spcBef>
                <a:spcPts val="930"/>
              </a:spcBef>
              <a:buFont typeface="Corbel" panose="020B0503020204020204" pitchFamily="34" charset="0"/>
            </a:pPr>
            <a:r>
              <a:rPr lang="en-US" spc="150" dirty="0">
                <a:solidFill>
                  <a:schemeClr val="tx1">
                    <a:lumMod val="75000"/>
                    <a:lumOff val="25000"/>
                  </a:schemeClr>
                </a:solidFill>
              </a:rPr>
              <a:t>Justification: Sensing and processing occurs locally. Control, application, and data storage in the cloud.</a:t>
            </a:r>
          </a:p>
        </p:txBody>
      </p:sp>
      <p:sp>
        <p:nvSpPr>
          <p:cNvPr id="90" name="Rectangle 89">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 y="6144564"/>
            <a:ext cx="4656246" cy="7134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15122" y="6167615"/>
            <a:ext cx="747382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624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71343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04062FB-6C25-BCD9-7B22-4BC2FC8F51FC}"/>
              </a:ext>
            </a:extLst>
          </p:cNvPr>
          <p:cNvSpPr txBox="1"/>
          <p:nvPr/>
        </p:nvSpPr>
        <p:spPr>
          <a:xfrm>
            <a:off x="7085073" y="837137"/>
            <a:ext cx="4572000" cy="369332"/>
          </a:xfrm>
          <a:prstGeom prst="rect">
            <a:avLst/>
          </a:prstGeom>
          <a:noFill/>
        </p:spPr>
        <p:txBody>
          <a:bodyPr wrap="square" rtlCol="0">
            <a:spAutoFit/>
          </a:bodyPr>
          <a:lstStyle/>
          <a:p>
            <a:r>
              <a:rPr lang="en-US" b="1" dirty="0">
                <a:latin typeface="+mj-lt"/>
              </a:rPr>
              <a:t>Architecture Diagram:</a:t>
            </a:r>
          </a:p>
        </p:txBody>
      </p:sp>
      <p:pic>
        <p:nvPicPr>
          <p:cNvPr id="5" name="Picture 4">
            <a:extLst>
              <a:ext uri="{FF2B5EF4-FFF2-40B4-BE49-F238E27FC236}">
                <a16:creationId xmlns:a16="http://schemas.microsoft.com/office/drawing/2014/main" id="{B8C9DBF8-EFD0-B71B-5C41-F80A5EB96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2195" y="1195356"/>
            <a:ext cx="7473828" cy="4972257"/>
          </a:xfrm>
          <a:prstGeom prst="rect">
            <a:avLst/>
          </a:prstGeom>
        </p:spPr>
      </p:pic>
      <p:sp>
        <p:nvSpPr>
          <p:cNvPr id="11" name="TextBox 10">
            <a:extLst>
              <a:ext uri="{FF2B5EF4-FFF2-40B4-BE49-F238E27FC236}">
                <a16:creationId xmlns:a16="http://schemas.microsoft.com/office/drawing/2014/main" id="{604E1B9C-FE16-BF2C-BFF2-0D7C5C05E07C}"/>
              </a:ext>
            </a:extLst>
          </p:cNvPr>
          <p:cNvSpPr txBox="1"/>
          <p:nvPr/>
        </p:nvSpPr>
        <p:spPr>
          <a:xfrm>
            <a:off x="3844587" y="1916787"/>
            <a:ext cx="1477447" cy="276999"/>
          </a:xfrm>
          <a:prstGeom prst="rect">
            <a:avLst/>
          </a:prstGeom>
          <a:noFill/>
        </p:spPr>
        <p:txBody>
          <a:bodyPr wrap="square" rtlCol="0">
            <a:spAutoFit/>
          </a:bodyPr>
          <a:lstStyle/>
          <a:p>
            <a:r>
              <a:rPr lang="en-US" sz="1200" dirty="0">
                <a:highlight>
                  <a:srgbClr val="FFFF00"/>
                </a:highlight>
              </a:rPr>
              <a:t>Application Layer</a:t>
            </a:r>
          </a:p>
        </p:txBody>
      </p:sp>
      <p:sp>
        <p:nvSpPr>
          <p:cNvPr id="10" name="TextBox 9">
            <a:extLst>
              <a:ext uri="{FF2B5EF4-FFF2-40B4-BE49-F238E27FC236}">
                <a16:creationId xmlns:a16="http://schemas.microsoft.com/office/drawing/2014/main" id="{781EA4CA-5DB4-DDB8-C243-E621E729AE12}"/>
              </a:ext>
            </a:extLst>
          </p:cNvPr>
          <p:cNvSpPr txBox="1"/>
          <p:nvPr/>
        </p:nvSpPr>
        <p:spPr>
          <a:xfrm>
            <a:off x="3904906" y="3255627"/>
            <a:ext cx="1285458" cy="276999"/>
          </a:xfrm>
          <a:prstGeom prst="rect">
            <a:avLst/>
          </a:prstGeom>
          <a:noFill/>
        </p:spPr>
        <p:txBody>
          <a:bodyPr wrap="square" rtlCol="0">
            <a:spAutoFit/>
          </a:bodyPr>
          <a:lstStyle/>
          <a:p>
            <a:r>
              <a:rPr lang="en-US" sz="1200" dirty="0">
                <a:highlight>
                  <a:srgbClr val="FFFF00"/>
                </a:highlight>
              </a:rPr>
              <a:t>Network Layer</a:t>
            </a:r>
          </a:p>
        </p:txBody>
      </p:sp>
      <p:sp>
        <p:nvSpPr>
          <p:cNvPr id="8" name="TextBox 7">
            <a:extLst>
              <a:ext uri="{FF2B5EF4-FFF2-40B4-BE49-F238E27FC236}">
                <a16:creationId xmlns:a16="http://schemas.microsoft.com/office/drawing/2014/main" id="{852BB061-7FEC-1A28-B69F-B41F35B76058}"/>
              </a:ext>
            </a:extLst>
          </p:cNvPr>
          <p:cNvSpPr txBox="1"/>
          <p:nvPr/>
        </p:nvSpPr>
        <p:spPr>
          <a:xfrm>
            <a:off x="3844587" y="5511252"/>
            <a:ext cx="1477448" cy="276999"/>
          </a:xfrm>
          <a:prstGeom prst="rect">
            <a:avLst/>
          </a:prstGeom>
          <a:noFill/>
        </p:spPr>
        <p:txBody>
          <a:bodyPr wrap="square" rtlCol="0">
            <a:spAutoFit/>
          </a:bodyPr>
          <a:lstStyle/>
          <a:p>
            <a:r>
              <a:rPr lang="en-US" sz="1200" dirty="0">
                <a:highlight>
                  <a:srgbClr val="FFFF00"/>
                </a:highlight>
              </a:rPr>
              <a:t>Perception Layer</a:t>
            </a:r>
          </a:p>
        </p:txBody>
      </p:sp>
    </p:spTree>
    <p:extLst>
      <p:ext uri="{BB962C8B-B14F-4D97-AF65-F5344CB8AC3E}">
        <p14:creationId xmlns:p14="http://schemas.microsoft.com/office/powerpoint/2010/main" val="2685467459"/>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C3D4F-FB3B-5A08-A824-82EA6834C0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B85D76-E8B6-1A54-4245-C1FD6655F8BA}"/>
              </a:ext>
            </a:extLst>
          </p:cNvPr>
          <p:cNvSpPr txBox="1"/>
          <p:nvPr/>
        </p:nvSpPr>
        <p:spPr>
          <a:xfrm>
            <a:off x="990600" y="395379"/>
            <a:ext cx="10231120" cy="646331"/>
          </a:xfrm>
          <a:prstGeom prst="rect">
            <a:avLst/>
          </a:prstGeom>
          <a:noFill/>
        </p:spPr>
        <p:txBody>
          <a:bodyPr wrap="square" rtlCol="0">
            <a:spAutoFit/>
          </a:bodyPr>
          <a:lstStyle/>
          <a:p>
            <a:pPr algn="ctr"/>
            <a:r>
              <a:rPr lang="en-US" sz="3600" b="1" dirty="0">
                <a:latin typeface="+mj-lt"/>
              </a:rPr>
              <a:t>Explanation:</a:t>
            </a:r>
          </a:p>
        </p:txBody>
      </p:sp>
      <p:sp>
        <p:nvSpPr>
          <p:cNvPr id="3" name="TextBox 2">
            <a:extLst>
              <a:ext uri="{FF2B5EF4-FFF2-40B4-BE49-F238E27FC236}">
                <a16:creationId xmlns:a16="http://schemas.microsoft.com/office/drawing/2014/main" id="{2C17B57A-DD86-911D-51E5-0FA32DC8A66D}"/>
              </a:ext>
            </a:extLst>
          </p:cNvPr>
          <p:cNvSpPr txBox="1"/>
          <p:nvPr/>
        </p:nvSpPr>
        <p:spPr>
          <a:xfrm>
            <a:off x="990600" y="1434375"/>
            <a:ext cx="10231120" cy="5016758"/>
          </a:xfrm>
          <a:prstGeom prst="rect">
            <a:avLst/>
          </a:prstGeom>
          <a:noFill/>
        </p:spPr>
        <p:txBody>
          <a:bodyPr wrap="square" rtlCol="0">
            <a:spAutoFit/>
          </a:bodyPr>
          <a:lstStyle/>
          <a:p>
            <a:pPr marL="285750" lvl="0" indent="-285750">
              <a:buFont typeface="Arial" panose="020B0604020202020204" pitchFamily="34" charset="0"/>
              <a:buChar char="•"/>
            </a:pPr>
            <a:r>
              <a:rPr lang="en-US" sz="2000" dirty="0"/>
              <a:t>DHT22 sensor measures real-time temperature and humidity.</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ESP32 compares these readings with the user-defined thresholds.</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When limits are exceeded, it actuates the servo motor to open/close the window and switches fan(LED) on/off.</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The main LCD shows the current environmental conditions and actuator states.</a:t>
            </a:r>
          </a:p>
          <a:p>
            <a:pPr lvl="0"/>
            <a:endParaRPr lang="en-US" sz="2000" dirty="0"/>
          </a:p>
          <a:p>
            <a:pPr marL="285750" lvl="0" indent="-285750">
              <a:buFont typeface="Arial" panose="020B0604020202020204" pitchFamily="34" charset="0"/>
              <a:buChar char="•"/>
            </a:pPr>
            <a:r>
              <a:rPr lang="en-US" sz="2000" dirty="0"/>
              <a:t>The limit LCD shows the thresholds set by the user via the cloud application.</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The dashboard in the cloud allows the user to monitor the state of the system and set the temperature and humidity limits dynamically.</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The data is stored in a MongoDB database through the Node.js backend.</a:t>
            </a:r>
          </a:p>
        </p:txBody>
      </p:sp>
    </p:spTree>
    <p:extLst>
      <p:ext uri="{BB962C8B-B14F-4D97-AF65-F5344CB8AC3E}">
        <p14:creationId xmlns:p14="http://schemas.microsoft.com/office/powerpoint/2010/main" val="242897496"/>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EFB6BBB-FFD2-7DB6-C70E-EF56EDB5F09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5508"/>
            <a:ext cx="4668819"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4FD556B-975B-1D34-3CAF-92B817E70B90}"/>
              </a:ext>
            </a:extLst>
          </p:cNvPr>
          <p:cNvSpPr txBox="1"/>
          <p:nvPr/>
        </p:nvSpPr>
        <p:spPr>
          <a:xfrm>
            <a:off x="463825" y="1709530"/>
            <a:ext cx="3754671" cy="2528515"/>
          </a:xfrm>
          <a:prstGeom prst="rect">
            <a:avLst/>
          </a:prstGeom>
        </p:spPr>
        <p:txBody>
          <a:bodyPr vert="horz" lIns="109728" tIns="109728" rIns="109728" bIns="91440" rtlCol="0" anchor="b">
            <a:normAutofit/>
          </a:bodyPr>
          <a:lstStyle/>
          <a:p>
            <a:pPr>
              <a:lnSpc>
                <a:spcPct val="125000"/>
              </a:lnSpc>
              <a:spcBef>
                <a:spcPct val="0"/>
              </a:spcBef>
              <a:spcAft>
                <a:spcPts val="600"/>
              </a:spcAft>
            </a:pPr>
            <a:r>
              <a:rPr lang="en-US" sz="3600" cap="all" spc="150" dirty="0">
                <a:solidFill>
                  <a:schemeClr val="bg1"/>
                </a:solidFill>
                <a:latin typeface="+mj-lt"/>
                <a:ea typeface="+mj-ea"/>
                <a:cs typeface="+mj-cs"/>
              </a:rPr>
              <a:t>5. Components Used:</a:t>
            </a:r>
          </a:p>
        </p:txBody>
      </p:sp>
      <p:sp>
        <p:nvSpPr>
          <p:cNvPr id="19" name="Rectangle 18">
            <a:extLst>
              <a:ext uri="{FF2B5EF4-FFF2-40B4-BE49-F238E27FC236}">
                <a16:creationId xmlns:a16="http://schemas.microsoft.com/office/drawing/2014/main" id="{BBD49B71-B686-4DFD-93AD-40CB19B62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066" y="0"/>
            <a:ext cx="7519934"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653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7C1E585D-48A3-E821-391E-F867F3929071}"/>
              </a:ext>
            </a:extLst>
          </p:cNvPr>
          <p:cNvGraphicFramePr>
            <a:graphicFrameLocks noGrp="1"/>
          </p:cNvGraphicFramePr>
          <p:nvPr>
            <p:extLst>
              <p:ext uri="{D42A27DB-BD31-4B8C-83A1-F6EECF244321}">
                <p14:modId xmlns:p14="http://schemas.microsoft.com/office/powerpoint/2010/main" val="2059034078"/>
              </p:ext>
            </p:extLst>
          </p:nvPr>
        </p:nvGraphicFramePr>
        <p:xfrm>
          <a:off x="4680352" y="304800"/>
          <a:ext cx="7519934" cy="6231498"/>
        </p:xfrm>
        <a:graphic>
          <a:graphicData uri="http://schemas.openxmlformats.org/drawingml/2006/table">
            <a:tbl>
              <a:tblPr firstRow="1" firstCol="1" bandRow="1">
                <a:noFill/>
                <a:tableStyleId>{5C22544A-7EE6-4342-B048-85BDC9FD1C3A}</a:tableStyleId>
              </a:tblPr>
              <a:tblGrid>
                <a:gridCol w="841830">
                  <a:extLst>
                    <a:ext uri="{9D8B030D-6E8A-4147-A177-3AD203B41FA5}">
                      <a16:colId xmlns:a16="http://schemas.microsoft.com/office/drawing/2014/main" val="2915625087"/>
                    </a:ext>
                  </a:extLst>
                </a:gridCol>
                <a:gridCol w="2055432">
                  <a:extLst>
                    <a:ext uri="{9D8B030D-6E8A-4147-A177-3AD203B41FA5}">
                      <a16:colId xmlns:a16="http://schemas.microsoft.com/office/drawing/2014/main" val="2386033436"/>
                    </a:ext>
                  </a:extLst>
                </a:gridCol>
                <a:gridCol w="1217481">
                  <a:extLst>
                    <a:ext uri="{9D8B030D-6E8A-4147-A177-3AD203B41FA5}">
                      <a16:colId xmlns:a16="http://schemas.microsoft.com/office/drawing/2014/main" val="2139104127"/>
                    </a:ext>
                  </a:extLst>
                </a:gridCol>
                <a:gridCol w="3405191">
                  <a:extLst>
                    <a:ext uri="{9D8B030D-6E8A-4147-A177-3AD203B41FA5}">
                      <a16:colId xmlns:a16="http://schemas.microsoft.com/office/drawing/2014/main" val="3419559438"/>
                    </a:ext>
                  </a:extLst>
                </a:gridCol>
              </a:tblGrid>
              <a:tr h="401169">
                <a:tc>
                  <a:txBody>
                    <a:bodyPr/>
                    <a:lstStyle/>
                    <a:p>
                      <a:pPr marL="0" marR="0">
                        <a:lnSpc>
                          <a:spcPct val="115000"/>
                        </a:lnSpc>
                        <a:spcAft>
                          <a:spcPts val="800"/>
                        </a:spcAft>
                        <a:buNone/>
                      </a:pPr>
                      <a:r>
                        <a:rPr lang="en-US" sz="1400" b="1" kern="100" cap="none" spc="0" dirty="0">
                          <a:solidFill>
                            <a:schemeClr val="tx1"/>
                          </a:solidFill>
                          <a:effectLst/>
                          <a:latin typeface="+mn-lt"/>
                        </a:rPr>
                        <a:t>Sl. No.:</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Component: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a:solidFill>
                            <a:schemeClr val="tx1"/>
                          </a:solidFill>
                          <a:effectLst/>
                          <a:latin typeface="+mn-lt"/>
                        </a:rPr>
                        <a:t>Type:</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a:solidFill>
                            <a:schemeClr val="tx1"/>
                          </a:solidFill>
                          <a:effectLst/>
                          <a:latin typeface="+mn-lt"/>
                        </a:rPr>
                        <a:t>Role:</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0974842"/>
                  </a:ext>
                </a:extLst>
              </a:tr>
              <a:tr h="811835">
                <a:tc>
                  <a:txBody>
                    <a:bodyPr/>
                    <a:lstStyle/>
                    <a:p>
                      <a:pPr marL="0" marR="0">
                        <a:lnSpc>
                          <a:spcPct val="115000"/>
                        </a:lnSpc>
                        <a:spcAft>
                          <a:spcPts val="800"/>
                        </a:spcAft>
                        <a:buNone/>
                      </a:pPr>
                      <a:r>
                        <a:rPr lang="en-US" sz="1400" b="1" kern="100" cap="none" spc="0" dirty="0">
                          <a:solidFill>
                            <a:schemeClr val="tx1"/>
                          </a:solidFill>
                          <a:effectLst/>
                          <a:latin typeface="+mn-lt"/>
                        </a:rPr>
                        <a:t>1.</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ESP32</a:t>
                      </a: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Processing Unit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Microcontroller that processes sensor data and controls actuators/LCDs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258728"/>
                  </a:ext>
                </a:extLst>
              </a:tr>
              <a:tr h="565804">
                <a:tc>
                  <a:txBody>
                    <a:bodyPr/>
                    <a:lstStyle/>
                    <a:p>
                      <a:pPr marL="0" marR="0">
                        <a:lnSpc>
                          <a:spcPct val="115000"/>
                        </a:lnSpc>
                        <a:spcAft>
                          <a:spcPts val="800"/>
                        </a:spcAft>
                        <a:buNone/>
                      </a:pPr>
                      <a:r>
                        <a:rPr lang="en-US" sz="1400" b="1" kern="100" cap="none" spc="0">
                          <a:solidFill>
                            <a:schemeClr val="tx1"/>
                          </a:solidFill>
                          <a:effectLst/>
                          <a:latin typeface="+mn-lt"/>
                        </a:rPr>
                        <a:t>2.</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DHT22 Sensor</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Sensor</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a:solidFill>
                            <a:schemeClr val="tx1"/>
                          </a:solidFill>
                          <a:effectLst/>
                          <a:latin typeface="+mn-lt"/>
                        </a:rPr>
                        <a:t>Measures temperature and humidity</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99161742"/>
                  </a:ext>
                </a:extLst>
              </a:tr>
              <a:tr h="565804">
                <a:tc>
                  <a:txBody>
                    <a:bodyPr/>
                    <a:lstStyle/>
                    <a:p>
                      <a:pPr marL="0" marR="0">
                        <a:lnSpc>
                          <a:spcPct val="115000"/>
                        </a:lnSpc>
                        <a:spcAft>
                          <a:spcPts val="800"/>
                        </a:spcAft>
                        <a:buNone/>
                      </a:pPr>
                      <a:r>
                        <a:rPr lang="en-US" sz="1400" b="1" kern="100" cap="none" spc="0">
                          <a:solidFill>
                            <a:schemeClr val="tx1"/>
                          </a:solidFill>
                          <a:effectLst/>
                          <a:latin typeface="+mn-lt"/>
                        </a:rPr>
                        <a:t>3.</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Servo Motor</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Actuator</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Opens/closes the greenhouse window</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5336959"/>
                  </a:ext>
                </a:extLst>
              </a:tr>
              <a:tr h="565804">
                <a:tc>
                  <a:txBody>
                    <a:bodyPr/>
                    <a:lstStyle/>
                    <a:p>
                      <a:pPr marL="0" marR="0">
                        <a:lnSpc>
                          <a:spcPct val="115000"/>
                        </a:lnSpc>
                        <a:spcAft>
                          <a:spcPts val="800"/>
                        </a:spcAft>
                        <a:buNone/>
                      </a:pPr>
                      <a:r>
                        <a:rPr lang="en-US" sz="1400" b="1" kern="100" cap="none" spc="0">
                          <a:solidFill>
                            <a:schemeClr val="tx1"/>
                          </a:solidFill>
                          <a:effectLst/>
                          <a:latin typeface="+mn-lt"/>
                        </a:rPr>
                        <a:t>4.</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Fan (represented by LED)</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a:solidFill>
                            <a:schemeClr val="tx1"/>
                          </a:solidFill>
                          <a:effectLst/>
                          <a:latin typeface="+mn-lt"/>
                        </a:rPr>
                        <a:t>Actuator</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Provides ventilation inside the greenhouse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31049564"/>
                  </a:ext>
                </a:extLst>
              </a:tr>
              <a:tr h="565804">
                <a:tc>
                  <a:txBody>
                    <a:bodyPr/>
                    <a:lstStyle/>
                    <a:p>
                      <a:pPr marL="0" marR="0">
                        <a:lnSpc>
                          <a:spcPct val="115000"/>
                        </a:lnSpc>
                        <a:spcAft>
                          <a:spcPts val="800"/>
                        </a:spcAft>
                        <a:buNone/>
                      </a:pPr>
                      <a:r>
                        <a:rPr lang="en-US" sz="1400" b="1" kern="100" cap="none" spc="0">
                          <a:solidFill>
                            <a:schemeClr val="tx1"/>
                          </a:solidFill>
                          <a:effectLst/>
                          <a:latin typeface="+mn-lt"/>
                        </a:rPr>
                        <a:t>5.</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20x4 LCD Display (Main)</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Output Device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dirty="0">
                          <a:solidFill>
                            <a:schemeClr val="tx1"/>
                          </a:solidFill>
                          <a:effectLst/>
                          <a:latin typeface="+mn-lt"/>
                        </a:rPr>
                        <a:t>Shows current temperature, humidity, window, and fan states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505653"/>
                  </a:ext>
                </a:extLst>
              </a:tr>
              <a:tr h="565804">
                <a:tc>
                  <a:txBody>
                    <a:bodyPr/>
                    <a:lstStyle/>
                    <a:p>
                      <a:pPr marL="0" marR="0">
                        <a:lnSpc>
                          <a:spcPct val="115000"/>
                        </a:lnSpc>
                        <a:spcAft>
                          <a:spcPts val="800"/>
                        </a:spcAft>
                        <a:buNone/>
                      </a:pPr>
                      <a:r>
                        <a:rPr lang="en-US" sz="1400" b="1" kern="100" cap="none" spc="0">
                          <a:solidFill>
                            <a:schemeClr val="tx1"/>
                          </a:solidFill>
                          <a:effectLst/>
                          <a:latin typeface="+mn-lt"/>
                        </a:rPr>
                        <a:t>6.</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16x2 LCD Display (Limit)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Output Device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a:solidFill>
                            <a:schemeClr val="tx1"/>
                          </a:solidFill>
                          <a:effectLst/>
                          <a:latin typeface="+mn-lt"/>
                        </a:rPr>
                        <a:t>Displays user-set temperature and humidity limits</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8359394"/>
                  </a:ext>
                </a:extLst>
              </a:tr>
              <a:tr h="811835">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7.</a:t>
                      </a: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a:solidFill>
                            <a:schemeClr val="tx1"/>
                          </a:solidFill>
                          <a:effectLst/>
                          <a:latin typeface="+mn-lt"/>
                        </a:rPr>
                        <a:t>Breadboard</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Connector Platform</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Provides easy wiring and connections between components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3374850"/>
                  </a:ext>
                </a:extLst>
              </a:tr>
              <a:tr h="565804">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8.</a:t>
                      </a: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a:solidFill>
                            <a:schemeClr val="tx1"/>
                          </a:solidFill>
                          <a:effectLst/>
                          <a:latin typeface="+mn-lt"/>
                        </a:rPr>
                        <a:t>Resistor</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a:solidFill>
                            <a:schemeClr val="tx1"/>
                          </a:solidFill>
                          <a:effectLst/>
                          <a:latin typeface="+mn-lt"/>
                        </a:rPr>
                        <a:t>Passive Component</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400" b="1" kern="100" cap="none" spc="0">
                          <a:solidFill>
                            <a:schemeClr val="tx1"/>
                          </a:solidFill>
                          <a:effectLst/>
                          <a:latin typeface="+mn-lt"/>
                        </a:rPr>
                        <a:t>Limits current to protect LED</a:t>
                      </a:r>
                      <a:endParaRPr lang="en-US" sz="1400" b="1" kern="100" cap="none" spc="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104788"/>
                  </a:ext>
                </a:extLst>
              </a:tr>
              <a:tr h="811835">
                <a:tc>
                  <a:txBody>
                    <a:bodyPr/>
                    <a:lstStyle/>
                    <a:p>
                      <a:pPr marL="0" marR="0">
                        <a:lnSpc>
                          <a:spcPct val="115000"/>
                        </a:lnSpc>
                        <a:spcAft>
                          <a:spcPts val="800"/>
                        </a:spcAft>
                        <a:buNone/>
                      </a:pPr>
                      <a:r>
                        <a:rPr lang="en-US" sz="1400" b="1" kern="100" cap="none" spc="0" dirty="0">
                          <a:solidFill>
                            <a:schemeClr val="tx1"/>
                          </a:solidFill>
                          <a:effectLst/>
                          <a:latin typeface="+mn-lt"/>
                        </a:rPr>
                        <a:t>9. </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Power Supply</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Power Source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Provides required voltage/current to ESP32, actuators, and sensors.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36770" marR="36770" marT="0" marB="735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04685866"/>
                  </a:ext>
                </a:extLst>
              </a:tr>
            </a:tbl>
          </a:graphicData>
        </a:graphic>
      </p:graphicFrame>
    </p:spTree>
    <p:extLst>
      <p:ext uri="{BB962C8B-B14F-4D97-AF65-F5344CB8AC3E}">
        <p14:creationId xmlns:p14="http://schemas.microsoft.com/office/powerpoint/2010/main" val="921924329"/>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7D2C86-1FA1-3813-6B79-786201B0DBC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5508"/>
            <a:ext cx="4668819"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0E23947-54B2-D90C-3305-BC00733B96F1}"/>
              </a:ext>
            </a:extLst>
          </p:cNvPr>
          <p:cNvSpPr txBox="1"/>
          <p:nvPr/>
        </p:nvSpPr>
        <p:spPr>
          <a:xfrm>
            <a:off x="77514" y="1624862"/>
            <a:ext cx="4616275" cy="2528515"/>
          </a:xfrm>
          <a:prstGeom prst="rect">
            <a:avLst/>
          </a:prstGeom>
        </p:spPr>
        <p:txBody>
          <a:bodyPr vert="horz" lIns="109728" tIns="109728" rIns="109728" bIns="91440" rtlCol="0" anchor="b">
            <a:normAutofit/>
          </a:bodyPr>
          <a:lstStyle/>
          <a:p>
            <a:pPr>
              <a:lnSpc>
                <a:spcPct val="125000"/>
              </a:lnSpc>
              <a:spcBef>
                <a:spcPct val="0"/>
              </a:spcBef>
              <a:spcAft>
                <a:spcPts val="600"/>
              </a:spcAft>
            </a:pPr>
            <a:r>
              <a:rPr lang="en-US" sz="3600" cap="all" spc="150" dirty="0">
                <a:solidFill>
                  <a:schemeClr val="bg1"/>
                </a:solidFill>
                <a:latin typeface="+mj-lt"/>
                <a:ea typeface="+mj-ea"/>
                <a:cs typeface="+mj-cs"/>
              </a:rPr>
              <a:t>6. Pin Configuration:</a:t>
            </a:r>
          </a:p>
        </p:txBody>
      </p:sp>
      <p:sp>
        <p:nvSpPr>
          <p:cNvPr id="19" name="Rectangle 18">
            <a:extLst>
              <a:ext uri="{FF2B5EF4-FFF2-40B4-BE49-F238E27FC236}">
                <a16:creationId xmlns:a16="http://schemas.microsoft.com/office/drawing/2014/main" id="{BBD49B71-B686-4DFD-93AD-40CB19B62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066" y="0"/>
            <a:ext cx="7519934"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653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ECEB5243-FA6E-ABBB-A0D4-F28598DF5453}"/>
              </a:ext>
            </a:extLst>
          </p:cNvPr>
          <p:cNvGraphicFramePr>
            <a:graphicFrameLocks noGrp="1"/>
          </p:cNvGraphicFramePr>
          <p:nvPr>
            <p:extLst>
              <p:ext uri="{D42A27DB-BD31-4B8C-83A1-F6EECF244321}">
                <p14:modId xmlns:p14="http://schemas.microsoft.com/office/powerpoint/2010/main" val="1965445317"/>
              </p:ext>
            </p:extLst>
          </p:nvPr>
        </p:nvGraphicFramePr>
        <p:xfrm>
          <a:off x="4638538" y="266917"/>
          <a:ext cx="7573751" cy="6324165"/>
        </p:xfrm>
        <a:graphic>
          <a:graphicData uri="http://schemas.openxmlformats.org/drawingml/2006/table">
            <a:tbl>
              <a:tblPr firstRow="1" firstCol="1" bandRow="1">
                <a:solidFill>
                  <a:srgbClr val="F7F7F7"/>
                </a:solidFill>
                <a:tableStyleId>{5C22544A-7EE6-4342-B048-85BDC9FD1C3A}</a:tableStyleId>
              </a:tblPr>
              <a:tblGrid>
                <a:gridCol w="1479640">
                  <a:extLst>
                    <a:ext uri="{9D8B030D-6E8A-4147-A177-3AD203B41FA5}">
                      <a16:colId xmlns:a16="http://schemas.microsoft.com/office/drawing/2014/main" val="2788778385"/>
                    </a:ext>
                  </a:extLst>
                </a:gridCol>
                <a:gridCol w="2038917">
                  <a:extLst>
                    <a:ext uri="{9D8B030D-6E8A-4147-A177-3AD203B41FA5}">
                      <a16:colId xmlns:a16="http://schemas.microsoft.com/office/drawing/2014/main" val="3245820890"/>
                    </a:ext>
                  </a:extLst>
                </a:gridCol>
                <a:gridCol w="1155735">
                  <a:extLst>
                    <a:ext uri="{9D8B030D-6E8A-4147-A177-3AD203B41FA5}">
                      <a16:colId xmlns:a16="http://schemas.microsoft.com/office/drawing/2014/main" val="1825942025"/>
                    </a:ext>
                  </a:extLst>
                </a:gridCol>
                <a:gridCol w="2899459">
                  <a:extLst>
                    <a:ext uri="{9D8B030D-6E8A-4147-A177-3AD203B41FA5}">
                      <a16:colId xmlns:a16="http://schemas.microsoft.com/office/drawing/2014/main" val="451458162"/>
                    </a:ext>
                  </a:extLst>
                </a:gridCol>
              </a:tblGrid>
              <a:tr h="546792">
                <a:tc>
                  <a:txBody>
                    <a:bodyPr/>
                    <a:lstStyle/>
                    <a:p>
                      <a:pPr marL="0" marR="0">
                        <a:lnSpc>
                          <a:spcPct val="115000"/>
                        </a:lnSpc>
                        <a:spcAft>
                          <a:spcPts val="800"/>
                        </a:spcAft>
                        <a:buNone/>
                      </a:pPr>
                      <a:r>
                        <a:rPr lang="en-US" sz="1050" b="1" kern="100" cap="all" spc="60" dirty="0">
                          <a:solidFill>
                            <a:schemeClr val="bg1"/>
                          </a:solidFill>
                          <a:effectLst/>
                          <a:latin typeface="+mn-lt"/>
                        </a:rPr>
                        <a:t>ESP32 Pin:</a:t>
                      </a:r>
                      <a:endParaRPr lang="en-US" sz="1050" b="1" kern="100" cap="all" spc="60" dirty="0">
                        <a:solidFill>
                          <a:schemeClr val="bg1"/>
                        </a:solidFill>
                        <a:effectLst/>
                        <a:latin typeface="+mn-lt"/>
                        <a:ea typeface="Aptos" panose="020B0004020202020204" pitchFamily="34" charset="0"/>
                        <a:cs typeface="Times New Roman" panose="02020603050405020304" pitchFamily="18" charset="0"/>
                      </a:endParaRPr>
                    </a:p>
                  </a:txBody>
                  <a:tcPr marL="85464" marR="85464" marT="85464" marB="854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a:lnSpc>
                          <a:spcPct val="115000"/>
                        </a:lnSpc>
                        <a:spcAft>
                          <a:spcPts val="800"/>
                        </a:spcAft>
                        <a:buNone/>
                      </a:pPr>
                      <a:r>
                        <a:rPr lang="en-US" sz="1100" b="1" kern="100" cap="all" spc="60" dirty="0">
                          <a:solidFill>
                            <a:schemeClr val="bg1"/>
                          </a:solidFill>
                          <a:effectLst/>
                          <a:latin typeface="+mn-lt"/>
                        </a:rPr>
                        <a:t>Connected Devices:</a:t>
                      </a:r>
                      <a:endParaRPr lang="en-US" sz="1100" b="1" kern="100" cap="all" spc="60" dirty="0">
                        <a:solidFill>
                          <a:schemeClr val="bg1"/>
                        </a:solidFill>
                        <a:effectLst/>
                        <a:latin typeface="+mn-lt"/>
                        <a:ea typeface="Aptos" panose="020B0004020202020204" pitchFamily="34" charset="0"/>
                        <a:cs typeface="Times New Roman" panose="02020603050405020304" pitchFamily="18" charset="0"/>
                      </a:endParaRPr>
                    </a:p>
                  </a:txBody>
                  <a:tcPr marL="85464" marR="85464" marT="85464" marB="854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a:lnSpc>
                          <a:spcPct val="115000"/>
                        </a:lnSpc>
                        <a:spcAft>
                          <a:spcPts val="800"/>
                        </a:spcAft>
                        <a:buNone/>
                      </a:pPr>
                      <a:r>
                        <a:rPr lang="en-US" sz="1100" b="1" kern="100" cap="all" spc="60" dirty="0">
                          <a:solidFill>
                            <a:schemeClr val="bg1"/>
                          </a:solidFill>
                          <a:effectLst/>
                          <a:latin typeface="+mn-lt"/>
                        </a:rPr>
                        <a:t>Mode:</a:t>
                      </a:r>
                      <a:endParaRPr lang="en-US" sz="1100" b="1" kern="100" cap="all" spc="60" dirty="0">
                        <a:solidFill>
                          <a:schemeClr val="bg1"/>
                        </a:solidFill>
                        <a:effectLst/>
                        <a:latin typeface="+mn-lt"/>
                        <a:ea typeface="Aptos" panose="020B0004020202020204" pitchFamily="34" charset="0"/>
                        <a:cs typeface="Times New Roman" panose="02020603050405020304" pitchFamily="18" charset="0"/>
                      </a:endParaRPr>
                    </a:p>
                  </a:txBody>
                  <a:tcPr marL="85464" marR="85464" marT="85464" marB="854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a:lnSpc>
                          <a:spcPct val="115000"/>
                        </a:lnSpc>
                        <a:spcAft>
                          <a:spcPts val="800"/>
                        </a:spcAft>
                        <a:buNone/>
                      </a:pPr>
                      <a:r>
                        <a:rPr lang="en-US" sz="1100" b="1" kern="100" cap="all" spc="60" dirty="0">
                          <a:solidFill>
                            <a:schemeClr val="bg1"/>
                          </a:solidFill>
                          <a:effectLst/>
                          <a:latin typeface="+mn-lt"/>
                        </a:rPr>
                        <a:t>Purpose:</a:t>
                      </a:r>
                      <a:endParaRPr lang="en-US" sz="1100" b="1" kern="100" cap="all" spc="60" dirty="0">
                        <a:solidFill>
                          <a:schemeClr val="bg1"/>
                        </a:solidFill>
                        <a:effectLst/>
                        <a:latin typeface="+mn-lt"/>
                        <a:ea typeface="Aptos" panose="020B0004020202020204" pitchFamily="34" charset="0"/>
                        <a:cs typeface="Times New Roman" panose="02020603050405020304" pitchFamily="18" charset="0"/>
                      </a:endParaRPr>
                    </a:p>
                  </a:txBody>
                  <a:tcPr marL="85464" marR="85464" marT="85464" marB="854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90429070"/>
                  </a:ext>
                </a:extLst>
              </a:tr>
              <a:tr h="556017">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GPIO pin 13</a:t>
                      </a: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it-IT" sz="1400" b="1" kern="100" cap="none" spc="0" dirty="0">
                          <a:solidFill>
                            <a:schemeClr val="tx1"/>
                          </a:solidFill>
                          <a:effectLst/>
                          <a:latin typeface="+mn-lt"/>
                        </a:rPr>
                        <a:t>DHT22 SDA (Digital data pin)</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it-IT" sz="1400" b="1" kern="100" cap="none" spc="0" dirty="0">
                          <a:solidFill>
                            <a:schemeClr val="tx1"/>
                          </a:solidFill>
                          <a:effectLst/>
                          <a:latin typeface="+mn-lt"/>
                        </a:rPr>
                        <a:t>Input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To receive temperature and humidity data from the DHT22 sensor.</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1694669319"/>
                  </a:ext>
                </a:extLst>
              </a:tr>
              <a:tr h="556017">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GPIO pin 2</a:t>
                      </a: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LED</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Output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Indicates when the ventilation fan is activated.</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8387175"/>
                  </a:ext>
                </a:extLst>
              </a:tr>
              <a:tr h="556017">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GPIO pin 18</a:t>
                      </a: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Servo Motor (PWM servo control signal)</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Output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Controls the opening and closing of the greenhouse window for ventilation.</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3492403737"/>
                  </a:ext>
                </a:extLst>
              </a:tr>
              <a:tr h="765288">
                <a:tc>
                  <a:txBody>
                    <a:bodyPr/>
                    <a:lstStyle/>
                    <a:p>
                      <a:pPr marL="0" marR="0">
                        <a:lnSpc>
                          <a:spcPct val="115000"/>
                        </a:lnSpc>
                        <a:spcAft>
                          <a:spcPts val="800"/>
                        </a:spcAft>
                        <a:buNone/>
                      </a:pPr>
                      <a:r>
                        <a:rPr lang="en-US" sz="1400" b="1" kern="100" cap="none" spc="0" dirty="0">
                          <a:solidFill>
                            <a:schemeClr val="tx1"/>
                          </a:solidFill>
                          <a:effectLst/>
                          <a:latin typeface="+mn-lt"/>
                        </a:rPr>
                        <a:t>3.3 V and 5V pins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Power Supply</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Power Output</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Supplies power to sensors, LCDs, LED, and Servo motor.</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4213195"/>
                  </a:ext>
                </a:extLst>
              </a:tr>
              <a:tr h="787742">
                <a:tc>
                  <a:txBody>
                    <a:bodyPr/>
                    <a:lstStyle/>
                    <a:p>
                      <a:pPr marL="0" marR="0">
                        <a:lnSpc>
                          <a:spcPct val="115000"/>
                        </a:lnSpc>
                        <a:spcAft>
                          <a:spcPts val="800"/>
                        </a:spcAft>
                        <a:buNone/>
                      </a:pPr>
                      <a:r>
                        <a:rPr lang="en-US" sz="1400" b="1" kern="100" cap="none" spc="0" dirty="0">
                          <a:solidFill>
                            <a:schemeClr val="tx1"/>
                          </a:solidFill>
                          <a:effectLst/>
                          <a:latin typeface="+mn-lt"/>
                        </a:rPr>
                        <a:t>GND1 (ground)</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Ground</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Power Reference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Completes the electrical circuit and provides a common reference voltage for all components.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471091083"/>
                  </a:ext>
                </a:extLst>
              </a:tr>
              <a:tr h="556017">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GPIO pin 21</a:t>
                      </a: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it-IT" sz="1400" b="1" kern="100" cap="none" spc="0" dirty="0">
                          <a:solidFill>
                            <a:schemeClr val="tx1"/>
                          </a:solidFill>
                          <a:effectLst/>
                          <a:latin typeface="+mn-lt"/>
                        </a:rPr>
                        <a:t>I2C SDA (LCD data line)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it-IT" sz="1400" b="1" kern="100" cap="none" spc="0" dirty="0">
                          <a:solidFill>
                            <a:schemeClr val="tx1"/>
                          </a:solidFill>
                          <a:effectLst/>
                          <a:latin typeface="+mn-lt"/>
                        </a:rPr>
                        <a:t>Communication</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Transfers data between the ESP32 and the I²C LCD displays.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8638091"/>
                  </a:ext>
                </a:extLst>
              </a:tr>
              <a:tr h="787742">
                <a:tc>
                  <a:txBody>
                    <a:bodyPr/>
                    <a:lstStyle/>
                    <a:p>
                      <a:pPr marL="0" marR="0">
                        <a:lnSpc>
                          <a:spcPct val="115000"/>
                        </a:lnSpc>
                        <a:spcAft>
                          <a:spcPts val="800"/>
                        </a:spcAft>
                        <a:buNone/>
                      </a:pPr>
                      <a:r>
                        <a:rPr lang="en-US" sz="1400" b="1" kern="100" cap="none" spc="0" dirty="0">
                          <a:solidFill>
                            <a:schemeClr val="tx1"/>
                          </a:solidFill>
                          <a:effectLst/>
                          <a:latin typeface="+mn-lt"/>
                          <a:ea typeface="Aptos" panose="020B0004020202020204" pitchFamily="34" charset="0"/>
                          <a:cs typeface="Times New Roman" panose="02020603050405020304" pitchFamily="18" charset="0"/>
                        </a:rPr>
                        <a:t>GPIO pin 22</a:t>
                      </a: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I2C SCL (LCD clock line)</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Communication</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marR="0">
                        <a:lnSpc>
                          <a:spcPct val="115000"/>
                        </a:lnSpc>
                        <a:spcAft>
                          <a:spcPts val="800"/>
                        </a:spcAft>
                        <a:buNone/>
                      </a:pPr>
                      <a:r>
                        <a:rPr lang="en-US" sz="1400" b="1" kern="100" cap="none" spc="0" dirty="0">
                          <a:solidFill>
                            <a:schemeClr val="tx1"/>
                          </a:solidFill>
                          <a:effectLst/>
                          <a:latin typeface="+mn-lt"/>
                        </a:rPr>
                        <a:t>Provides the clock signal that synchronizes data transfer between the ESP32 and the LCD displays.</a:t>
                      </a:r>
                      <a:endParaRPr lang="en-US" sz="1400" b="1" kern="100" cap="none" spc="0" dirty="0">
                        <a:solidFill>
                          <a:schemeClr val="tx1"/>
                        </a:solidFill>
                        <a:effectLst/>
                        <a:latin typeface="+mn-lt"/>
                        <a:ea typeface="Aptos" panose="020B0004020202020204" pitchFamily="34" charset="0"/>
                        <a:cs typeface="Times New Roman" panose="02020603050405020304" pitchFamily="18" charset="0"/>
                      </a:endParaRPr>
                    </a:p>
                  </a:txBody>
                  <a:tcPr marL="27476" marR="27476" marT="0" marB="5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3123084322"/>
                  </a:ext>
                </a:extLst>
              </a:tr>
            </a:tbl>
          </a:graphicData>
        </a:graphic>
      </p:graphicFrame>
    </p:spTree>
    <p:extLst>
      <p:ext uri="{BB962C8B-B14F-4D97-AF65-F5344CB8AC3E}">
        <p14:creationId xmlns:p14="http://schemas.microsoft.com/office/powerpoint/2010/main" val="3832164304"/>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1790652-C4B6-82C2-CB8B-F3767943120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5" name="Rectangle 14">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8" y="0"/>
            <a:ext cx="4603482" cy="6112401"/>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0B9FFB1-2563-21CB-5F84-CCE95B83E84D}"/>
              </a:ext>
            </a:extLst>
          </p:cNvPr>
          <p:cNvSpPr txBox="1"/>
          <p:nvPr/>
        </p:nvSpPr>
        <p:spPr>
          <a:xfrm>
            <a:off x="7973503" y="1709530"/>
            <a:ext cx="3754671" cy="2528515"/>
          </a:xfrm>
          <a:prstGeom prst="rect">
            <a:avLst/>
          </a:prstGeom>
        </p:spPr>
        <p:txBody>
          <a:bodyPr vert="horz" lIns="109728" tIns="109728" rIns="109728" bIns="91440" rtlCol="0" anchor="b">
            <a:normAutofit/>
          </a:bodyPr>
          <a:lstStyle/>
          <a:p>
            <a:pPr>
              <a:lnSpc>
                <a:spcPct val="125000"/>
              </a:lnSpc>
              <a:spcBef>
                <a:spcPct val="0"/>
              </a:spcBef>
              <a:spcAft>
                <a:spcPts val="600"/>
              </a:spcAft>
            </a:pPr>
            <a:r>
              <a:rPr lang="en-US" sz="3600" cap="all" spc="150" dirty="0">
                <a:solidFill>
                  <a:schemeClr val="tx2"/>
                </a:solidFill>
                <a:latin typeface="+mj-lt"/>
                <a:ea typeface="+mj-ea"/>
                <a:cs typeface="+mj-cs"/>
              </a:rPr>
              <a:t>7. Circuit Diagram:</a:t>
            </a:r>
          </a:p>
        </p:txBody>
      </p:sp>
      <p:sp>
        <p:nvSpPr>
          <p:cNvPr id="21" name="Rectangle 20">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1359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F3400B8-C5A5-1B6A-3B16-5267DB4BCA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591"/>
            <a:ext cx="7530550" cy="4809932"/>
          </a:xfrm>
          <a:prstGeom prst="rect">
            <a:avLst/>
          </a:prstGeom>
        </p:spPr>
      </p:pic>
    </p:spTree>
    <p:extLst>
      <p:ext uri="{BB962C8B-B14F-4D97-AF65-F5344CB8AC3E}">
        <p14:creationId xmlns:p14="http://schemas.microsoft.com/office/powerpoint/2010/main" val="1563353149"/>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F44DD-6436-CC7C-6151-8A24C3A056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88812B-1D46-6FC1-3147-E410334A8A58}"/>
              </a:ext>
            </a:extLst>
          </p:cNvPr>
          <p:cNvSpPr txBox="1"/>
          <p:nvPr/>
        </p:nvSpPr>
        <p:spPr>
          <a:xfrm>
            <a:off x="-2797387" y="2932331"/>
            <a:ext cx="10231120" cy="646331"/>
          </a:xfrm>
          <a:prstGeom prst="rect">
            <a:avLst/>
          </a:prstGeom>
          <a:noFill/>
        </p:spPr>
        <p:txBody>
          <a:bodyPr wrap="square" rtlCol="0">
            <a:spAutoFit/>
          </a:bodyPr>
          <a:lstStyle/>
          <a:p>
            <a:pPr algn="ctr"/>
            <a:r>
              <a:rPr lang="en-US" sz="3600" b="1" dirty="0">
                <a:latin typeface="+mj-lt"/>
              </a:rPr>
              <a:t>8. Flow Diagram:</a:t>
            </a:r>
          </a:p>
        </p:txBody>
      </p:sp>
      <p:pic>
        <p:nvPicPr>
          <p:cNvPr id="9" name="Picture 8">
            <a:extLst>
              <a:ext uri="{FF2B5EF4-FFF2-40B4-BE49-F238E27FC236}">
                <a16:creationId xmlns:a16="http://schemas.microsoft.com/office/drawing/2014/main" id="{53309338-16D3-095A-7C96-923EDF986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6481" y="0"/>
            <a:ext cx="6037459" cy="6858000"/>
          </a:xfrm>
          <a:prstGeom prst="rect">
            <a:avLst/>
          </a:prstGeom>
        </p:spPr>
      </p:pic>
    </p:spTree>
    <p:extLst>
      <p:ext uri="{BB962C8B-B14F-4D97-AF65-F5344CB8AC3E}">
        <p14:creationId xmlns:p14="http://schemas.microsoft.com/office/powerpoint/2010/main" val="748788461"/>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9A451-40D5-BC9B-855A-387BFE75CF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82D48A-070B-1E6A-37CE-58D70261FC86}"/>
              </a:ext>
            </a:extLst>
          </p:cNvPr>
          <p:cNvSpPr txBox="1"/>
          <p:nvPr/>
        </p:nvSpPr>
        <p:spPr>
          <a:xfrm>
            <a:off x="990600" y="408097"/>
            <a:ext cx="10231120" cy="646331"/>
          </a:xfrm>
          <a:prstGeom prst="rect">
            <a:avLst/>
          </a:prstGeom>
          <a:noFill/>
        </p:spPr>
        <p:txBody>
          <a:bodyPr wrap="square" rtlCol="0">
            <a:spAutoFit/>
          </a:bodyPr>
          <a:lstStyle/>
          <a:p>
            <a:pPr algn="ctr"/>
            <a:r>
              <a:rPr lang="en-US" sz="3600" b="1" dirty="0">
                <a:latin typeface="+mj-lt"/>
              </a:rPr>
              <a:t>9. Event-Insight-Action:</a:t>
            </a:r>
          </a:p>
        </p:txBody>
      </p:sp>
      <p:sp>
        <p:nvSpPr>
          <p:cNvPr id="3" name="TextBox 2">
            <a:extLst>
              <a:ext uri="{FF2B5EF4-FFF2-40B4-BE49-F238E27FC236}">
                <a16:creationId xmlns:a16="http://schemas.microsoft.com/office/drawing/2014/main" id="{8CCBA3D5-DE5E-947B-1D3A-ED400ECF7A5D}"/>
              </a:ext>
            </a:extLst>
          </p:cNvPr>
          <p:cNvSpPr txBox="1"/>
          <p:nvPr/>
        </p:nvSpPr>
        <p:spPr>
          <a:xfrm>
            <a:off x="426720" y="1582508"/>
            <a:ext cx="11358880" cy="4708981"/>
          </a:xfrm>
          <a:prstGeom prst="rect">
            <a:avLst/>
          </a:prstGeom>
          <a:noFill/>
        </p:spPr>
        <p:txBody>
          <a:bodyPr wrap="square" rtlCol="0">
            <a:spAutoFit/>
          </a:bodyPr>
          <a:lstStyle/>
          <a:p>
            <a:r>
              <a:rPr lang="en-US" sz="2000" u="sng" dirty="0"/>
              <a:t>Event:</a:t>
            </a:r>
            <a:br>
              <a:rPr lang="en-US" sz="2000" dirty="0"/>
            </a:br>
            <a:r>
              <a:rPr lang="en-US" sz="2000" dirty="0"/>
              <a:t>The DHT22 sensor detects the current temperature and humidity inside the greenhouse. At the same time, the app provides the user-defined temperature and humidity limits.</a:t>
            </a:r>
          </a:p>
          <a:p>
            <a:endParaRPr lang="en-US" sz="2000" dirty="0"/>
          </a:p>
          <a:p>
            <a:r>
              <a:rPr lang="en-US" sz="2000" u="sng" dirty="0"/>
              <a:t>Insight:</a:t>
            </a:r>
          </a:p>
          <a:p>
            <a:r>
              <a:rPr lang="en-US" sz="2000" dirty="0"/>
              <a:t>The ESP32 processes the sensor data and compares the measured temperature and humidity with the limits set by the user. It determines whether the environmental conditions exceed the safe thresholds.</a:t>
            </a:r>
          </a:p>
          <a:p>
            <a:r>
              <a:rPr lang="en-US" sz="2000" dirty="0"/>
              <a:t> </a:t>
            </a:r>
          </a:p>
          <a:p>
            <a:r>
              <a:rPr lang="en-US" sz="2000" u="sng" dirty="0"/>
              <a:t>Action:</a:t>
            </a:r>
          </a:p>
          <a:p>
            <a:r>
              <a:rPr lang="en-US" sz="2000" dirty="0"/>
              <a:t>If the temperature or humidity exceeds the set limits, the servo motor opens the greenhouse window, and the fan (LED indicator) turns ON to increase ventilation. If the conditions are within limits, the window closes and the fan turns OFF. The system also displays the readings and system status on the LCD displays and sends the information to the app.</a:t>
            </a:r>
          </a:p>
        </p:txBody>
      </p:sp>
    </p:spTree>
    <p:extLst>
      <p:ext uri="{BB962C8B-B14F-4D97-AF65-F5344CB8AC3E}">
        <p14:creationId xmlns:p14="http://schemas.microsoft.com/office/powerpoint/2010/main" val="1453983812"/>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1E42B-749C-E8C8-5B2A-3464729B1C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A4CD69-C1A7-323B-0B2B-EA97E17006B7}"/>
              </a:ext>
            </a:extLst>
          </p:cNvPr>
          <p:cNvSpPr txBox="1"/>
          <p:nvPr/>
        </p:nvSpPr>
        <p:spPr>
          <a:xfrm>
            <a:off x="990600" y="408097"/>
            <a:ext cx="10231120" cy="646331"/>
          </a:xfrm>
          <a:prstGeom prst="rect">
            <a:avLst/>
          </a:prstGeom>
          <a:noFill/>
        </p:spPr>
        <p:txBody>
          <a:bodyPr wrap="square" rtlCol="0">
            <a:spAutoFit/>
          </a:bodyPr>
          <a:lstStyle/>
          <a:p>
            <a:pPr algn="ctr"/>
            <a:r>
              <a:rPr lang="en-US" sz="3600" b="1" dirty="0">
                <a:latin typeface="+mj-lt"/>
              </a:rPr>
              <a:t>Wireless Communication:</a:t>
            </a:r>
          </a:p>
        </p:txBody>
      </p:sp>
      <p:sp>
        <p:nvSpPr>
          <p:cNvPr id="3" name="TextBox 2">
            <a:extLst>
              <a:ext uri="{FF2B5EF4-FFF2-40B4-BE49-F238E27FC236}">
                <a16:creationId xmlns:a16="http://schemas.microsoft.com/office/drawing/2014/main" id="{EF790386-AC83-069F-02A1-15428DD0DAAF}"/>
              </a:ext>
            </a:extLst>
          </p:cNvPr>
          <p:cNvSpPr txBox="1"/>
          <p:nvPr/>
        </p:nvSpPr>
        <p:spPr>
          <a:xfrm>
            <a:off x="721359" y="1192168"/>
            <a:ext cx="11358880" cy="5043688"/>
          </a:xfrm>
          <a:prstGeom prst="rect">
            <a:avLst/>
          </a:prstGeom>
          <a:noFill/>
        </p:spPr>
        <p:txBody>
          <a:bodyPr wrap="square" rtlCol="0">
            <a:spAutoFit/>
          </a:bodyPr>
          <a:lstStyle/>
          <a:p>
            <a:pPr marL="457200" indent="-457200">
              <a:lnSpc>
                <a:spcPct val="150000"/>
              </a:lnSpc>
              <a:buFont typeface="+mj-lt"/>
              <a:buAutoNum type="arabicPeriod"/>
            </a:pPr>
            <a:r>
              <a:rPr lang="en-US" dirty="0"/>
              <a:t>Between the ESP32 and MQTT broker:  (MQTT over TCP with TLS, encrypted)</a:t>
            </a:r>
          </a:p>
          <a:p>
            <a:pPr marL="971550" lvl="1" indent="-514350">
              <a:lnSpc>
                <a:spcPct val="150000"/>
              </a:lnSpc>
              <a:buFont typeface="+mj-lt"/>
              <a:buAutoNum type="romanLcPeriod"/>
            </a:pPr>
            <a:r>
              <a:rPr lang="en-US" dirty="0"/>
              <a:t>ESP32 is connected to WOKWI virtual Wi-Fi router</a:t>
            </a:r>
          </a:p>
          <a:p>
            <a:pPr marL="971550" lvl="1" indent="-514350">
              <a:lnSpc>
                <a:spcPct val="150000"/>
              </a:lnSpc>
              <a:buFont typeface="+mj-lt"/>
              <a:buAutoNum type="romanLcPeriod"/>
            </a:pPr>
            <a:r>
              <a:rPr lang="en-US" dirty="0"/>
              <a:t>ESP32 publishes sensor data (json string) to broker with topic greenhouse/sensor1</a:t>
            </a:r>
          </a:p>
          <a:p>
            <a:pPr marL="971550" lvl="1" indent="-514350">
              <a:lnSpc>
                <a:spcPct val="150000"/>
              </a:lnSpc>
              <a:buFont typeface="+mj-lt"/>
              <a:buAutoNum type="romanLcPeriod"/>
            </a:pPr>
            <a:r>
              <a:rPr lang="en-US" dirty="0"/>
              <a:t>ESP32 is subscribed to topics greenhouse/control/</a:t>
            </a:r>
            <a:r>
              <a:rPr lang="en-US" dirty="0" err="1"/>
              <a:t>temp_limit</a:t>
            </a:r>
            <a:r>
              <a:rPr lang="en-US" dirty="0"/>
              <a:t> and greenhouse/control/</a:t>
            </a:r>
            <a:r>
              <a:rPr lang="en-US" dirty="0" err="1"/>
              <a:t>humidity_limit</a:t>
            </a:r>
            <a:endParaRPr lang="en-US" dirty="0"/>
          </a:p>
          <a:p>
            <a:pPr lvl="1">
              <a:lnSpc>
                <a:spcPct val="150000"/>
              </a:lnSpc>
            </a:pPr>
            <a:endParaRPr lang="en-US" dirty="0"/>
          </a:p>
          <a:p>
            <a:pPr marL="457200" indent="-457200">
              <a:lnSpc>
                <a:spcPct val="150000"/>
              </a:lnSpc>
              <a:buFont typeface="+mj-lt"/>
              <a:buAutoNum type="arabicPeriod"/>
            </a:pPr>
            <a:r>
              <a:rPr lang="en-US" dirty="0"/>
              <a:t>Between the MQTT broker and the Mobile App client: (MQTT over WebSocket with TLS)</a:t>
            </a:r>
          </a:p>
          <a:p>
            <a:pPr marL="971550" lvl="1" indent="-514350">
              <a:lnSpc>
                <a:spcPct val="150000"/>
              </a:lnSpc>
              <a:buFont typeface="+mj-lt"/>
              <a:buAutoNum type="romanLcPeriod"/>
            </a:pPr>
            <a:r>
              <a:rPr lang="en-US" dirty="0"/>
              <a:t>App is subscribed to topic greenhouse/sensor1 (receives json string)</a:t>
            </a:r>
          </a:p>
          <a:p>
            <a:pPr marL="971550" lvl="1" indent="-514350">
              <a:lnSpc>
                <a:spcPct val="150000"/>
              </a:lnSpc>
              <a:buFont typeface="+mj-lt"/>
              <a:buAutoNum type="romanLcPeriod"/>
            </a:pPr>
            <a:r>
              <a:rPr lang="en-US" dirty="0"/>
              <a:t>App publishes user-defined limits (string) to broker with topics greenhouse/control/</a:t>
            </a:r>
            <a:r>
              <a:rPr lang="en-US" dirty="0" err="1"/>
              <a:t>temp_limit</a:t>
            </a:r>
            <a:r>
              <a:rPr lang="en-US" dirty="0"/>
              <a:t> and greenhouse/control/</a:t>
            </a:r>
            <a:r>
              <a:rPr lang="en-US" dirty="0" err="1"/>
              <a:t>humidity_limit</a:t>
            </a:r>
            <a:endParaRPr lang="en-US" dirty="0"/>
          </a:p>
          <a:p>
            <a:pPr marL="971550" lvl="1" indent="-514350">
              <a:lnSpc>
                <a:spcPct val="150000"/>
              </a:lnSpc>
              <a:buFont typeface="+mj-lt"/>
              <a:buAutoNum type="romanLcPeriod"/>
            </a:pPr>
            <a:r>
              <a:rPr lang="en-US" dirty="0"/>
              <a:t>WSS (WebSocket Secure) runs on top of TCP and provides a persistent bidirectional connection, over which </a:t>
            </a:r>
            <a:r>
              <a:rPr lang="en-US" dirty="0" err="1"/>
              <a:t>mqtt</a:t>
            </a:r>
            <a:r>
              <a:rPr lang="en-US" dirty="0"/>
              <a:t> messages are transmitted.</a:t>
            </a:r>
          </a:p>
        </p:txBody>
      </p:sp>
    </p:spTree>
    <p:extLst>
      <p:ext uri="{BB962C8B-B14F-4D97-AF65-F5344CB8AC3E}">
        <p14:creationId xmlns:p14="http://schemas.microsoft.com/office/powerpoint/2010/main" val="98936832"/>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9F95C-00BA-9584-34D5-D40FA585CB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F276C9-4730-7478-6136-438553C3376F}"/>
              </a:ext>
            </a:extLst>
          </p:cNvPr>
          <p:cNvSpPr txBox="1"/>
          <p:nvPr/>
        </p:nvSpPr>
        <p:spPr>
          <a:xfrm>
            <a:off x="1024466" y="290731"/>
            <a:ext cx="10231120" cy="646331"/>
          </a:xfrm>
          <a:prstGeom prst="rect">
            <a:avLst/>
          </a:prstGeom>
          <a:noFill/>
        </p:spPr>
        <p:txBody>
          <a:bodyPr wrap="square" rtlCol="0">
            <a:spAutoFit/>
          </a:bodyPr>
          <a:lstStyle/>
          <a:p>
            <a:pPr algn="ctr"/>
            <a:r>
              <a:rPr lang="en-US" sz="3600" b="1" dirty="0">
                <a:latin typeface="+mj-lt"/>
              </a:rPr>
              <a:t>10. Program Code:</a:t>
            </a:r>
          </a:p>
        </p:txBody>
      </p:sp>
      <p:sp>
        <p:nvSpPr>
          <p:cNvPr id="4" name="TextBox 3">
            <a:extLst>
              <a:ext uri="{FF2B5EF4-FFF2-40B4-BE49-F238E27FC236}">
                <a16:creationId xmlns:a16="http://schemas.microsoft.com/office/drawing/2014/main" id="{2D671937-C35A-C35A-9CD0-A549CF27F8D1}"/>
              </a:ext>
            </a:extLst>
          </p:cNvPr>
          <p:cNvSpPr txBox="1"/>
          <p:nvPr/>
        </p:nvSpPr>
        <p:spPr>
          <a:xfrm>
            <a:off x="2601018" y="1091823"/>
            <a:ext cx="7323083" cy="5632311"/>
          </a:xfrm>
          <a:prstGeom prst="rect">
            <a:avLst/>
          </a:prstGeom>
          <a:noFill/>
        </p:spPr>
        <p:txBody>
          <a:bodyPr wrap="square" rtlCol="0">
            <a:spAutoFit/>
          </a:bodyPr>
          <a:lstStyle/>
          <a:p>
            <a:r>
              <a:rPr lang="en-US" sz="1200" dirty="0"/>
              <a:t>#include &lt;</a:t>
            </a:r>
            <a:r>
              <a:rPr lang="en-US" sz="1200" dirty="0" err="1"/>
              <a:t>WiFi.h</a:t>
            </a:r>
            <a:r>
              <a:rPr lang="en-US" sz="1200" dirty="0"/>
              <a:t>&gt;</a:t>
            </a:r>
          </a:p>
          <a:p>
            <a:r>
              <a:rPr lang="en-US" sz="1200" dirty="0"/>
              <a:t>#include &lt;</a:t>
            </a:r>
            <a:r>
              <a:rPr lang="en-US" sz="1200" dirty="0" err="1"/>
              <a:t>PubSubClient.h</a:t>
            </a:r>
            <a:r>
              <a:rPr lang="en-US" sz="1200" dirty="0"/>
              <a:t>&gt;</a:t>
            </a:r>
          </a:p>
          <a:p>
            <a:r>
              <a:rPr lang="en-US" sz="1200" dirty="0"/>
              <a:t>#include &lt;</a:t>
            </a:r>
            <a:r>
              <a:rPr lang="en-US" sz="1200" dirty="0" err="1"/>
              <a:t>WiFiClientSecure.h</a:t>
            </a:r>
            <a:r>
              <a:rPr lang="en-US" sz="1200" dirty="0"/>
              <a:t>&gt;</a:t>
            </a:r>
          </a:p>
          <a:p>
            <a:r>
              <a:rPr lang="en-US" sz="1200" dirty="0"/>
              <a:t>#include &lt;</a:t>
            </a:r>
            <a:r>
              <a:rPr lang="en-US" sz="1200" dirty="0" err="1"/>
              <a:t>Wire.h</a:t>
            </a:r>
            <a:r>
              <a:rPr lang="en-US" sz="1200" dirty="0"/>
              <a:t>&gt;</a:t>
            </a:r>
          </a:p>
          <a:p>
            <a:r>
              <a:rPr lang="en-US" sz="1200" dirty="0"/>
              <a:t>#include &lt;LiquidCrystal_I2C.h&gt;</a:t>
            </a:r>
          </a:p>
          <a:p>
            <a:r>
              <a:rPr lang="en-US" sz="1200" dirty="0"/>
              <a:t>#include &lt;</a:t>
            </a:r>
            <a:r>
              <a:rPr lang="en-US" sz="1200" dirty="0" err="1"/>
              <a:t>DHT.h</a:t>
            </a:r>
            <a:r>
              <a:rPr lang="en-US" sz="1200" dirty="0"/>
              <a:t>&gt;</a:t>
            </a:r>
          </a:p>
          <a:p>
            <a:r>
              <a:rPr lang="en-US" sz="1200" dirty="0"/>
              <a:t>#include &lt;ESP32Servo.h&gt;</a:t>
            </a:r>
          </a:p>
          <a:p>
            <a:br>
              <a:rPr lang="en-US" sz="1200" dirty="0"/>
            </a:br>
            <a:endParaRPr lang="en-US" sz="1200" dirty="0"/>
          </a:p>
          <a:p>
            <a:r>
              <a:rPr lang="en-US" sz="1200" dirty="0"/>
              <a:t>#define LCD_MAIN_ADDR 0x27</a:t>
            </a:r>
          </a:p>
          <a:p>
            <a:r>
              <a:rPr lang="en-US" sz="1200" dirty="0"/>
              <a:t>#define LCD_LIMIT_ADDR 0x26</a:t>
            </a:r>
          </a:p>
          <a:p>
            <a:br>
              <a:rPr lang="en-US" sz="1200" dirty="0"/>
            </a:br>
            <a:endParaRPr lang="en-US" sz="1200" dirty="0"/>
          </a:p>
          <a:p>
            <a:r>
              <a:rPr lang="en-US" sz="1200" dirty="0"/>
              <a:t>#define DHTPIN 13</a:t>
            </a:r>
          </a:p>
          <a:p>
            <a:r>
              <a:rPr lang="en-US" sz="1200" dirty="0"/>
              <a:t>#define DHTTYPE DHT22</a:t>
            </a:r>
          </a:p>
          <a:p>
            <a:br>
              <a:rPr lang="en-US" sz="1200" dirty="0"/>
            </a:br>
            <a:endParaRPr lang="en-US" sz="1200" dirty="0"/>
          </a:p>
          <a:p>
            <a:r>
              <a:rPr lang="en-US" sz="1200" dirty="0"/>
              <a:t>#define LED_PIN 2</a:t>
            </a:r>
          </a:p>
          <a:p>
            <a:r>
              <a:rPr lang="en-US" sz="1200" dirty="0"/>
              <a:t>#define SERVO_PIN 18</a:t>
            </a:r>
          </a:p>
          <a:p>
            <a:br>
              <a:rPr lang="en-US" sz="1200" dirty="0"/>
            </a:br>
            <a:endParaRPr lang="en-US" sz="1200" dirty="0"/>
          </a:p>
          <a:p>
            <a:r>
              <a:rPr lang="en-US" sz="1200" dirty="0"/>
              <a:t>const char* </a:t>
            </a:r>
            <a:r>
              <a:rPr lang="en-US" sz="1200" dirty="0" err="1"/>
              <a:t>ssid</a:t>
            </a:r>
            <a:r>
              <a:rPr lang="en-US" sz="1200" dirty="0"/>
              <a:t> = "</a:t>
            </a:r>
            <a:r>
              <a:rPr lang="en-US" sz="1200" dirty="0" err="1"/>
              <a:t>Wokwi</a:t>
            </a:r>
            <a:r>
              <a:rPr lang="en-US" sz="1200" dirty="0"/>
              <a:t>-GUEST";</a:t>
            </a:r>
          </a:p>
          <a:p>
            <a:r>
              <a:rPr lang="en-US" sz="1200" dirty="0"/>
              <a:t>const char* password = "";</a:t>
            </a:r>
          </a:p>
          <a:p>
            <a:br>
              <a:rPr lang="en-US" sz="1200" dirty="0"/>
            </a:br>
            <a:endParaRPr lang="en-US" sz="1200" dirty="0"/>
          </a:p>
          <a:p>
            <a:r>
              <a:rPr lang="en-US" sz="1200" dirty="0"/>
              <a:t>const char* </a:t>
            </a:r>
            <a:r>
              <a:rPr lang="en-US" sz="1200" dirty="0" err="1"/>
              <a:t>mqtt_server</a:t>
            </a:r>
            <a:r>
              <a:rPr lang="en-US" sz="1200" dirty="0"/>
              <a:t> = "e340023a50cf44689effff5f4b6b0a62.s1.eu.hivemq.cloud";</a:t>
            </a:r>
          </a:p>
          <a:p>
            <a:r>
              <a:rPr lang="en-US" sz="1200" dirty="0"/>
              <a:t>const int </a:t>
            </a:r>
            <a:r>
              <a:rPr lang="en-US" sz="1200" dirty="0" err="1"/>
              <a:t>mqtt_port</a:t>
            </a:r>
            <a:r>
              <a:rPr lang="en-US" sz="1200" dirty="0"/>
              <a:t> = 8883;</a:t>
            </a:r>
          </a:p>
          <a:p>
            <a:r>
              <a:rPr lang="en-US" sz="1200" dirty="0"/>
              <a:t>const char* </a:t>
            </a:r>
            <a:r>
              <a:rPr lang="en-US" sz="1200" dirty="0" err="1"/>
              <a:t>mqtt_user</a:t>
            </a:r>
            <a:r>
              <a:rPr lang="en-US" sz="1200" dirty="0"/>
              <a:t> = "esp32";</a:t>
            </a:r>
          </a:p>
          <a:p>
            <a:r>
              <a:rPr lang="en-US" sz="1200" dirty="0"/>
              <a:t>const char* </a:t>
            </a:r>
            <a:r>
              <a:rPr lang="en-US" sz="1200" dirty="0" err="1"/>
              <a:t>mqtt_pass</a:t>
            </a:r>
            <a:r>
              <a:rPr lang="en-US" sz="1200" dirty="0"/>
              <a:t> = "w@4$Y82+86*8^8b";</a:t>
            </a:r>
          </a:p>
          <a:p>
            <a:endParaRPr lang="en-US" sz="1200" dirty="0"/>
          </a:p>
        </p:txBody>
      </p:sp>
    </p:spTree>
    <p:extLst>
      <p:ext uri="{BB962C8B-B14F-4D97-AF65-F5344CB8AC3E}">
        <p14:creationId xmlns:p14="http://schemas.microsoft.com/office/powerpoint/2010/main" val="1873258917"/>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DA5DA-087B-A5D3-AD04-3296284DF2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C7B6C0-8792-BCAA-9EFD-63B48B02C270}"/>
              </a:ext>
            </a:extLst>
          </p:cNvPr>
          <p:cNvSpPr txBox="1"/>
          <p:nvPr/>
        </p:nvSpPr>
        <p:spPr>
          <a:xfrm>
            <a:off x="980440" y="82275"/>
            <a:ext cx="10231120" cy="646331"/>
          </a:xfrm>
          <a:prstGeom prst="rect">
            <a:avLst/>
          </a:prstGeom>
          <a:noFill/>
        </p:spPr>
        <p:txBody>
          <a:bodyPr wrap="square" rtlCol="0">
            <a:spAutoFit/>
          </a:bodyPr>
          <a:lstStyle/>
          <a:p>
            <a:pPr algn="ctr"/>
            <a:r>
              <a:rPr lang="en-US" sz="3600" b="1" dirty="0">
                <a:latin typeface="+mj-lt"/>
              </a:rPr>
              <a:t>10. Program Code:</a:t>
            </a:r>
          </a:p>
        </p:txBody>
      </p:sp>
      <p:sp>
        <p:nvSpPr>
          <p:cNvPr id="6" name="TextBox 5">
            <a:extLst>
              <a:ext uri="{FF2B5EF4-FFF2-40B4-BE49-F238E27FC236}">
                <a16:creationId xmlns:a16="http://schemas.microsoft.com/office/drawing/2014/main" id="{9BC52267-1FEF-16BB-B665-A808A59D5CB0}"/>
              </a:ext>
            </a:extLst>
          </p:cNvPr>
          <p:cNvSpPr txBox="1"/>
          <p:nvPr/>
        </p:nvSpPr>
        <p:spPr>
          <a:xfrm>
            <a:off x="1930400" y="728606"/>
            <a:ext cx="8788399" cy="6232475"/>
          </a:xfrm>
          <a:prstGeom prst="rect">
            <a:avLst/>
          </a:prstGeom>
          <a:noFill/>
        </p:spPr>
        <p:txBody>
          <a:bodyPr wrap="square">
            <a:spAutoFit/>
          </a:bodyPr>
          <a:lstStyle/>
          <a:p>
            <a:r>
              <a:rPr lang="en-US" sz="1050" dirty="0" err="1"/>
              <a:t>WiFiClientSecure</a:t>
            </a:r>
            <a:r>
              <a:rPr lang="en-US" sz="1050" dirty="0"/>
              <a:t> </a:t>
            </a:r>
            <a:r>
              <a:rPr lang="en-US" sz="1050" dirty="0" err="1"/>
              <a:t>espClient</a:t>
            </a:r>
            <a:r>
              <a:rPr lang="en-US" sz="1050" dirty="0"/>
              <a:t>;</a:t>
            </a:r>
          </a:p>
          <a:p>
            <a:r>
              <a:rPr lang="en-US" sz="1050" dirty="0" err="1"/>
              <a:t>PubSubClient</a:t>
            </a:r>
            <a:r>
              <a:rPr lang="en-US" sz="1050" dirty="0"/>
              <a:t> client(</a:t>
            </a:r>
            <a:r>
              <a:rPr lang="en-US" sz="1050" dirty="0" err="1"/>
              <a:t>espClient</a:t>
            </a:r>
            <a:r>
              <a:rPr lang="en-US" sz="1050" dirty="0"/>
              <a:t>);</a:t>
            </a:r>
          </a:p>
          <a:p>
            <a:br>
              <a:rPr lang="en-US" sz="1050" dirty="0"/>
            </a:br>
            <a:endParaRPr lang="en-US" sz="1050" dirty="0"/>
          </a:p>
          <a:p>
            <a:r>
              <a:rPr lang="en-US" sz="1050" dirty="0"/>
              <a:t>LiquidCrystal_I2C </a:t>
            </a:r>
            <a:r>
              <a:rPr lang="en-US" sz="1050" dirty="0" err="1"/>
              <a:t>lcdMain</a:t>
            </a:r>
            <a:r>
              <a:rPr lang="en-US" sz="1050" dirty="0"/>
              <a:t>(LCD_MAIN_ADDR, 20, 4);</a:t>
            </a:r>
          </a:p>
          <a:p>
            <a:r>
              <a:rPr lang="en-US" sz="1050" dirty="0"/>
              <a:t>LiquidCrystal_I2C </a:t>
            </a:r>
            <a:r>
              <a:rPr lang="en-US" sz="1050" dirty="0" err="1"/>
              <a:t>lcdLimit</a:t>
            </a:r>
            <a:r>
              <a:rPr lang="en-US" sz="1050" dirty="0"/>
              <a:t>(LCD_LIMIT_ADDR, 16, 2);</a:t>
            </a:r>
          </a:p>
          <a:p>
            <a:r>
              <a:rPr lang="en-US" sz="1050" dirty="0"/>
              <a:t>DHT </a:t>
            </a:r>
            <a:r>
              <a:rPr lang="en-US" sz="1050" dirty="0" err="1"/>
              <a:t>dht</a:t>
            </a:r>
            <a:r>
              <a:rPr lang="en-US" sz="1050" dirty="0"/>
              <a:t>(DHTPIN, DHTTYPE);</a:t>
            </a:r>
          </a:p>
          <a:p>
            <a:r>
              <a:rPr lang="en-US" sz="1050" dirty="0"/>
              <a:t>Servo </a:t>
            </a:r>
            <a:r>
              <a:rPr lang="en-US" sz="1050" dirty="0" err="1"/>
              <a:t>windowServo</a:t>
            </a:r>
            <a:r>
              <a:rPr lang="en-US" sz="1050" dirty="0"/>
              <a:t>;</a:t>
            </a:r>
          </a:p>
          <a:p>
            <a:br>
              <a:rPr lang="en-US" sz="1050" dirty="0"/>
            </a:br>
            <a:endParaRPr lang="en-US" sz="1050" dirty="0"/>
          </a:p>
          <a:p>
            <a:r>
              <a:rPr lang="en-US" sz="1050" dirty="0"/>
              <a:t>float temperature = 0;</a:t>
            </a:r>
          </a:p>
          <a:p>
            <a:r>
              <a:rPr lang="en-US" sz="1050" dirty="0"/>
              <a:t>float humidity = 0;</a:t>
            </a:r>
          </a:p>
          <a:p>
            <a:r>
              <a:rPr lang="en-US" sz="1050" dirty="0"/>
              <a:t>float </a:t>
            </a:r>
            <a:r>
              <a:rPr lang="en-US" sz="1050" dirty="0" err="1"/>
              <a:t>temperature_limit</a:t>
            </a:r>
            <a:r>
              <a:rPr lang="en-US" sz="1050" dirty="0"/>
              <a:t> = 30;</a:t>
            </a:r>
          </a:p>
          <a:p>
            <a:r>
              <a:rPr lang="en-US" sz="1050" dirty="0"/>
              <a:t>float </a:t>
            </a:r>
            <a:r>
              <a:rPr lang="en-US" sz="1050" dirty="0" err="1"/>
              <a:t>humidity_limit</a:t>
            </a:r>
            <a:r>
              <a:rPr lang="en-US" sz="1050" dirty="0"/>
              <a:t> = 80;</a:t>
            </a:r>
          </a:p>
          <a:p>
            <a:br>
              <a:rPr lang="en-US" sz="1050" dirty="0"/>
            </a:br>
            <a:endParaRPr lang="en-US" sz="1050" dirty="0"/>
          </a:p>
          <a:p>
            <a:r>
              <a:rPr lang="en-US" sz="1050" dirty="0"/>
              <a:t>String </a:t>
            </a:r>
            <a:r>
              <a:rPr lang="en-US" sz="1050" dirty="0" err="1"/>
              <a:t>windowState</a:t>
            </a:r>
            <a:r>
              <a:rPr lang="en-US" sz="1050" dirty="0"/>
              <a:t> = "Closed";</a:t>
            </a:r>
          </a:p>
          <a:p>
            <a:r>
              <a:rPr lang="en-US" sz="1050" dirty="0"/>
              <a:t>String </a:t>
            </a:r>
            <a:r>
              <a:rPr lang="en-US" sz="1050" dirty="0" err="1"/>
              <a:t>fanState</a:t>
            </a:r>
            <a:r>
              <a:rPr lang="en-US" sz="1050" dirty="0"/>
              <a:t> = "Off";</a:t>
            </a:r>
          </a:p>
          <a:p>
            <a:br>
              <a:rPr lang="en-US" sz="1050" dirty="0"/>
            </a:br>
            <a:endParaRPr lang="en-US" sz="1050" dirty="0"/>
          </a:p>
          <a:p>
            <a:r>
              <a:rPr lang="en-US" sz="1050" dirty="0"/>
              <a:t>void callback(char* topic, byte* payload, unsigned int length) {</a:t>
            </a:r>
          </a:p>
          <a:p>
            <a:r>
              <a:rPr lang="en-US" sz="1050" dirty="0"/>
              <a:t>  String message = "";</a:t>
            </a:r>
          </a:p>
          <a:p>
            <a:br>
              <a:rPr lang="en-US" sz="1050" dirty="0"/>
            </a:br>
            <a:endParaRPr lang="en-US" sz="1050" dirty="0"/>
          </a:p>
          <a:p>
            <a:r>
              <a:rPr lang="en-US" sz="1050" dirty="0"/>
              <a:t>  for (int i = 0; i &lt; length; i++) {</a:t>
            </a:r>
          </a:p>
          <a:p>
            <a:r>
              <a:rPr lang="en-US" sz="1050" dirty="0"/>
              <a:t>    message += (char)payload[i];</a:t>
            </a:r>
          </a:p>
          <a:p>
            <a:r>
              <a:rPr lang="en-US" sz="1050" dirty="0"/>
              <a:t>  }</a:t>
            </a:r>
          </a:p>
          <a:p>
            <a:br>
              <a:rPr lang="en-US" sz="1050" dirty="0"/>
            </a:br>
            <a:endParaRPr lang="en-US" sz="1050" dirty="0"/>
          </a:p>
          <a:p>
            <a:r>
              <a:rPr lang="en-US" sz="1050" dirty="0"/>
              <a:t>  if (</a:t>
            </a:r>
            <a:r>
              <a:rPr lang="en-US" sz="1050" dirty="0" err="1"/>
              <a:t>strcmp</a:t>
            </a:r>
            <a:r>
              <a:rPr lang="en-US" sz="1050" dirty="0"/>
              <a:t>(topic, "greenhouse/control/</a:t>
            </a:r>
            <a:r>
              <a:rPr lang="en-US" sz="1050" dirty="0" err="1"/>
              <a:t>temp_limit</a:t>
            </a:r>
            <a:r>
              <a:rPr lang="en-US" sz="1050" dirty="0"/>
              <a:t>") == 0) {</a:t>
            </a:r>
          </a:p>
          <a:p>
            <a:r>
              <a:rPr lang="en-US" sz="1050" dirty="0"/>
              <a:t>    </a:t>
            </a:r>
            <a:r>
              <a:rPr lang="en-US" sz="1050" dirty="0" err="1"/>
              <a:t>temperature_limit</a:t>
            </a:r>
            <a:r>
              <a:rPr lang="en-US" sz="1050" dirty="0"/>
              <a:t> = </a:t>
            </a:r>
            <a:r>
              <a:rPr lang="en-US" sz="1050" dirty="0" err="1"/>
              <a:t>message.toFloat</a:t>
            </a:r>
            <a:r>
              <a:rPr lang="en-US" sz="1050" dirty="0"/>
              <a:t>();</a:t>
            </a:r>
          </a:p>
          <a:p>
            <a:r>
              <a:rPr lang="en-US" sz="1050" dirty="0"/>
              <a:t>  }</a:t>
            </a:r>
          </a:p>
          <a:p>
            <a:br>
              <a:rPr lang="en-US" sz="1050" dirty="0"/>
            </a:br>
            <a:endParaRPr lang="en-US" sz="1050" dirty="0"/>
          </a:p>
          <a:p>
            <a:r>
              <a:rPr lang="en-US" sz="1050" dirty="0"/>
              <a:t>  if (</a:t>
            </a:r>
            <a:r>
              <a:rPr lang="en-US" sz="1050" dirty="0" err="1"/>
              <a:t>strcmp</a:t>
            </a:r>
            <a:r>
              <a:rPr lang="en-US" sz="1050" dirty="0"/>
              <a:t>(topic, "greenhouse/control/</a:t>
            </a:r>
            <a:r>
              <a:rPr lang="en-US" sz="1050" dirty="0" err="1"/>
              <a:t>humidity_limit</a:t>
            </a:r>
            <a:r>
              <a:rPr lang="en-US" sz="1050" dirty="0"/>
              <a:t>") == 0) {</a:t>
            </a:r>
          </a:p>
          <a:p>
            <a:r>
              <a:rPr lang="en-US" sz="1050" dirty="0"/>
              <a:t>    </a:t>
            </a:r>
            <a:r>
              <a:rPr lang="en-US" sz="1050" dirty="0" err="1"/>
              <a:t>humidity_limit</a:t>
            </a:r>
            <a:r>
              <a:rPr lang="en-US" sz="1050" dirty="0"/>
              <a:t> = </a:t>
            </a:r>
            <a:r>
              <a:rPr lang="en-US" sz="1050" dirty="0" err="1"/>
              <a:t>message.toFloat</a:t>
            </a:r>
            <a:r>
              <a:rPr lang="en-US" sz="1050" dirty="0"/>
              <a:t>();</a:t>
            </a:r>
          </a:p>
          <a:p>
            <a:r>
              <a:rPr lang="en-US" sz="1050" dirty="0"/>
              <a:t>  }</a:t>
            </a:r>
          </a:p>
          <a:p>
            <a:r>
              <a:rPr lang="en-US" sz="1050" dirty="0"/>
              <a:t>}</a:t>
            </a:r>
          </a:p>
        </p:txBody>
      </p:sp>
    </p:spTree>
    <p:extLst>
      <p:ext uri="{BB962C8B-B14F-4D97-AF65-F5344CB8AC3E}">
        <p14:creationId xmlns:p14="http://schemas.microsoft.com/office/powerpoint/2010/main" val="1677072462"/>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316D-7C0E-CC3E-DC55-A004C83B07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38C1F1-BE21-C6A3-DAB9-8FCD05844DA5}"/>
              </a:ext>
            </a:extLst>
          </p:cNvPr>
          <p:cNvSpPr txBox="1"/>
          <p:nvPr/>
        </p:nvSpPr>
        <p:spPr>
          <a:xfrm>
            <a:off x="980440" y="0"/>
            <a:ext cx="10231120" cy="646331"/>
          </a:xfrm>
          <a:prstGeom prst="rect">
            <a:avLst/>
          </a:prstGeom>
          <a:noFill/>
        </p:spPr>
        <p:txBody>
          <a:bodyPr wrap="square" rtlCol="0">
            <a:spAutoFit/>
          </a:bodyPr>
          <a:lstStyle/>
          <a:p>
            <a:pPr algn="ctr"/>
            <a:r>
              <a:rPr lang="en-US" sz="3600" b="1" dirty="0">
                <a:latin typeface="+mj-lt"/>
              </a:rPr>
              <a:t>10. Program Code:</a:t>
            </a:r>
          </a:p>
        </p:txBody>
      </p:sp>
      <p:sp>
        <p:nvSpPr>
          <p:cNvPr id="4" name="TextBox 3">
            <a:extLst>
              <a:ext uri="{FF2B5EF4-FFF2-40B4-BE49-F238E27FC236}">
                <a16:creationId xmlns:a16="http://schemas.microsoft.com/office/drawing/2014/main" id="{407C8E0A-2948-7866-8735-40C19A85C440}"/>
              </a:ext>
            </a:extLst>
          </p:cNvPr>
          <p:cNvSpPr txBox="1"/>
          <p:nvPr/>
        </p:nvSpPr>
        <p:spPr>
          <a:xfrm>
            <a:off x="3048000" y="563096"/>
            <a:ext cx="6096000" cy="6394058"/>
          </a:xfrm>
          <a:prstGeom prst="rect">
            <a:avLst/>
          </a:prstGeom>
          <a:noFill/>
        </p:spPr>
        <p:txBody>
          <a:bodyPr wrap="square">
            <a:spAutoFit/>
          </a:bodyPr>
          <a:lstStyle/>
          <a:p>
            <a:r>
              <a:rPr lang="en-US" sz="1050" dirty="0"/>
              <a:t>void </a:t>
            </a:r>
            <a:r>
              <a:rPr lang="en-US" sz="1050" dirty="0" err="1"/>
              <a:t>setup_wifi</a:t>
            </a:r>
            <a:r>
              <a:rPr lang="en-US" sz="1050" dirty="0"/>
              <a:t>() {</a:t>
            </a:r>
          </a:p>
          <a:p>
            <a:r>
              <a:rPr lang="en-US" sz="1050" dirty="0"/>
              <a:t>  </a:t>
            </a:r>
            <a:r>
              <a:rPr lang="en-US" sz="1050" dirty="0" err="1"/>
              <a:t>Serial.print</a:t>
            </a:r>
            <a:r>
              <a:rPr lang="en-US" sz="1050" dirty="0"/>
              <a:t>("Connecting to </a:t>
            </a:r>
            <a:r>
              <a:rPr lang="en-US" sz="1050" dirty="0" err="1"/>
              <a:t>WiFi</a:t>
            </a:r>
            <a:r>
              <a:rPr lang="en-US" sz="1050" dirty="0"/>
              <a:t>");</a:t>
            </a:r>
          </a:p>
          <a:p>
            <a:r>
              <a:rPr lang="en-US" sz="1050" dirty="0"/>
              <a:t>  </a:t>
            </a:r>
            <a:r>
              <a:rPr lang="en-US" sz="1050" dirty="0" err="1"/>
              <a:t>WiFi.begin</a:t>
            </a:r>
            <a:r>
              <a:rPr lang="en-US" sz="1050" dirty="0"/>
              <a:t>(</a:t>
            </a:r>
            <a:r>
              <a:rPr lang="en-US" sz="1050" dirty="0" err="1"/>
              <a:t>ssid</a:t>
            </a:r>
            <a:r>
              <a:rPr lang="en-US" sz="1050" dirty="0"/>
              <a:t>, password);</a:t>
            </a:r>
          </a:p>
          <a:p>
            <a:br>
              <a:rPr lang="en-US" sz="1050" dirty="0"/>
            </a:br>
            <a:endParaRPr lang="en-US" sz="1050" dirty="0"/>
          </a:p>
          <a:p>
            <a:r>
              <a:rPr lang="en-US" sz="1050" dirty="0"/>
              <a:t>  while (</a:t>
            </a:r>
            <a:r>
              <a:rPr lang="en-US" sz="1050" dirty="0" err="1"/>
              <a:t>WiFi.status</a:t>
            </a:r>
            <a:r>
              <a:rPr lang="en-US" sz="1050" dirty="0"/>
              <a:t>() != WL_CONNECTED) {</a:t>
            </a:r>
          </a:p>
          <a:p>
            <a:r>
              <a:rPr lang="en-US" sz="1050" dirty="0"/>
              <a:t>    delay(500);</a:t>
            </a:r>
          </a:p>
          <a:p>
            <a:r>
              <a:rPr lang="en-US" sz="1050" dirty="0"/>
              <a:t>    </a:t>
            </a:r>
            <a:r>
              <a:rPr lang="en-US" sz="1050" dirty="0" err="1"/>
              <a:t>Serial.print</a:t>
            </a:r>
            <a:r>
              <a:rPr lang="en-US" sz="1050" dirty="0"/>
              <a:t>(".");</a:t>
            </a:r>
          </a:p>
          <a:p>
            <a:r>
              <a:rPr lang="en-US" sz="1050" dirty="0"/>
              <a:t>  }</a:t>
            </a:r>
          </a:p>
          <a:p>
            <a:br>
              <a:rPr lang="en-US" sz="1050" dirty="0"/>
            </a:br>
            <a:endParaRPr lang="en-US" sz="1050" dirty="0"/>
          </a:p>
          <a:p>
            <a:r>
              <a:rPr lang="en-US" sz="1050" dirty="0"/>
              <a:t>  </a:t>
            </a:r>
            <a:r>
              <a:rPr lang="en-US" sz="1050" dirty="0" err="1"/>
              <a:t>Serial.println</a:t>
            </a:r>
            <a:r>
              <a:rPr lang="en-US" sz="1050" dirty="0"/>
              <a:t>("\</a:t>
            </a:r>
            <a:r>
              <a:rPr lang="en-US" sz="1050" dirty="0" err="1"/>
              <a:t>nWiFi</a:t>
            </a:r>
            <a:r>
              <a:rPr lang="en-US" sz="1050" dirty="0"/>
              <a:t> connected");</a:t>
            </a:r>
          </a:p>
          <a:p>
            <a:r>
              <a:rPr lang="en-US" sz="1050" dirty="0"/>
              <a:t>}</a:t>
            </a:r>
          </a:p>
          <a:p>
            <a:br>
              <a:rPr lang="en-US" sz="1050" dirty="0"/>
            </a:br>
            <a:endParaRPr lang="en-US" sz="1050" dirty="0"/>
          </a:p>
          <a:p>
            <a:r>
              <a:rPr lang="en-US" sz="1050" dirty="0"/>
              <a:t>void reconnect() {</a:t>
            </a:r>
          </a:p>
          <a:p>
            <a:r>
              <a:rPr lang="en-US" sz="1050" dirty="0"/>
              <a:t>  if (!</a:t>
            </a:r>
            <a:r>
              <a:rPr lang="en-US" sz="1050" dirty="0" err="1"/>
              <a:t>client.connected</a:t>
            </a:r>
            <a:r>
              <a:rPr lang="en-US" sz="1050" dirty="0"/>
              <a:t>()) {</a:t>
            </a:r>
          </a:p>
          <a:p>
            <a:r>
              <a:rPr lang="en-US" sz="1050" dirty="0"/>
              <a:t>    </a:t>
            </a:r>
            <a:r>
              <a:rPr lang="en-US" sz="1050" dirty="0" err="1"/>
              <a:t>Serial.print</a:t>
            </a:r>
            <a:r>
              <a:rPr lang="en-US" sz="1050" dirty="0"/>
              <a:t>("Connecting to MQTT...");</a:t>
            </a:r>
          </a:p>
          <a:p>
            <a:br>
              <a:rPr lang="en-US" sz="1050" dirty="0"/>
            </a:br>
            <a:endParaRPr lang="en-US" sz="1050" dirty="0"/>
          </a:p>
          <a:p>
            <a:r>
              <a:rPr lang="en-US" sz="1050" dirty="0"/>
              <a:t>    String </a:t>
            </a:r>
            <a:r>
              <a:rPr lang="en-US" sz="1050" dirty="0" err="1"/>
              <a:t>clientId</a:t>
            </a:r>
            <a:r>
              <a:rPr lang="en-US" sz="1050" dirty="0"/>
              <a:t> = "ESP32-" + String(random(0xffff), HEX);</a:t>
            </a:r>
          </a:p>
          <a:p>
            <a:br>
              <a:rPr lang="en-US" sz="1050" dirty="0"/>
            </a:br>
            <a:endParaRPr lang="en-US" sz="1050" dirty="0"/>
          </a:p>
          <a:p>
            <a:r>
              <a:rPr lang="en-US" sz="1050" dirty="0"/>
              <a:t>    if (</a:t>
            </a:r>
            <a:r>
              <a:rPr lang="en-US" sz="1050" dirty="0" err="1"/>
              <a:t>client.connect</a:t>
            </a:r>
            <a:r>
              <a:rPr lang="en-US" sz="1050" dirty="0"/>
              <a:t>(</a:t>
            </a:r>
            <a:r>
              <a:rPr lang="en-US" sz="1050" dirty="0" err="1"/>
              <a:t>clientId.c_str</a:t>
            </a:r>
            <a:r>
              <a:rPr lang="en-US" sz="1050" dirty="0"/>
              <a:t>(), </a:t>
            </a:r>
            <a:r>
              <a:rPr lang="en-US" sz="1050" dirty="0" err="1"/>
              <a:t>mqtt_user</a:t>
            </a:r>
            <a:r>
              <a:rPr lang="en-US" sz="1050" dirty="0"/>
              <a:t>, </a:t>
            </a:r>
            <a:r>
              <a:rPr lang="en-US" sz="1050" dirty="0" err="1"/>
              <a:t>mqtt_pass</a:t>
            </a:r>
            <a:r>
              <a:rPr lang="en-US" sz="1050" dirty="0"/>
              <a:t>)) {</a:t>
            </a:r>
          </a:p>
          <a:p>
            <a:r>
              <a:rPr lang="en-US" sz="1050" dirty="0"/>
              <a:t>      </a:t>
            </a:r>
            <a:r>
              <a:rPr lang="en-US" sz="1050" dirty="0" err="1"/>
              <a:t>Serial.println</a:t>
            </a:r>
            <a:r>
              <a:rPr lang="en-US" sz="1050" dirty="0"/>
              <a:t>("connected");</a:t>
            </a:r>
          </a:p>
          <a:p>
            <a:br>
              <a:rPr lang="en-US" sz="1050" dirty="0"/>
            </a:br>
            <a:endParaRPr lang="en-US" sz="1050" dirty="0"/>
          </a:p>
          <a:p>
            <a:r>
              <a:rPr lang="en-US" sz="1050" dirty="0"/>
              <a:t>      </a:t>
            </a:r>
            <a:r>
              <a:rPr lang="en-US" sz="1050" dirty="0" err="1"/>
              <a:t>client.subscribe</a:t>
            </a:r>
            <a:r>
              <a:rPr lang="en-US" sz="1050" dirty="0"/>
              <a:t>("greenhouse/control/</a:t>
            </a:r>
            <a:r>
              <a:rPr lang="en-US" sz="1050" dirty="0" err="1"/>
              <a:t>temp_limit</a:t>
            </a:r>
            <a:r>
              <a:rPr lang="en-US" sz="1050" dirty="0"/>
              <a:t>");</a:t>
            </a:r>
          </a:p>
          <a:p>
            <a:r>
              <a:rPr lang="en-US" sz="1050" dirty="0"/>
              <a:t>      </a:t>
            </a:r>
            <a:r>
              <a:rPr lang="en-US" sz="1050" dirty="0" err="1"/>
              <a:t>client.subscribe</a:t>
            </a:r>
            <a:r>
              <a:rPr lang="en-US" sz="1050" dirty="0"/>
              <a:t>("greenhouse/control/</a:t>
            </a:r>
            <a:r>
              <a:rPr lang="en-US" sz="1050" dirty="0" err="1"/>
              <a:t>humidity_limit</a:t>
            </a:r>
            <a:r>
              <a:rPr lang="en-US" sz="1050" dirty="0"/>
              <a:t>");</a:t>
            </a:r>
          </a:p>
          <a:p>
            <a:br>
              <a:rPr lang="en-US" sz="1050" dirty="0"/>
            </a:br>
            <a:endParaRPr lang="en-US" sz="1050" dirty="0"/>
          </a:p>
          <a:p>
            <a:r>
              <a:rPr lang="en-US" sz="1050" dirty="0"/>
              <a:t>    } else {</a:t>
            </a:r>
          </a:p>
          <a:p>
            <a:r>
              <a:rPr lang="en-US" sz="1050" dirty="0"/>
              <a:t>      </a:t>
            </a:r>
            <a:r>
              <a:rPr lang="en-US" sz="1050" dirty="0" err="1"/>
              <a:t>Serial.print</a:t>
            </a:r>
            <a:r>
              <a:rPr lang="en-US" sz="1050" dirty="0"/>
              <a:t>("failed, </a:t>
            </a:r>
            <a:r>
              <a:rPr lang="en-US" sz="1050" dirty="0" err="1"/>
              <a:t>rc</a:t>
            </a:r>
            <a:r>
              <a:rPr lang="en-US" sz="1050" dirty="0"/>
              <a:t>=");</a:t>
            </a:r>
          </a:p>
          <a:p>
            <a:r>
              <a:rPr lang="en-US" sz="1050" dirty="0"/>
              <a:t>      </a:t>
            </a:r>
            <a:r>
              <a:rPr lang="en-US" sz="1050" dirty="0" err="1"/>
              <a:t>Serial.print</a:t>
            </a:r>
            <a:r>
              <a:rPr lang="en-US" sz="1050" dirty="0"/>
              <a:t>(</a:t>
            </a:r>
            <a:r>
              <a:rPr lang="en-US" sz="1050" dirty="0" err="1"/>
              <a:t>client.state</a:t>
            </a:r>
            <a:r>
              <a:rPr lang="en-US" sz="1050" dirty="0"/>
              <a:t>());</a:t>
            </a:r>
          </a:p>
          <a:p>
            <a:r>
              <a:rPr lang="en-US" sz="1050" dirty="0"/>
              <a:t>      </a:t>
            </a:r>
            <a:r>
              <a:rPr lang="en-US" sz="1050" dirty="0" err="1"/>
              <a:t>Serial.println</a:t>
            </a:r>
            <a:r>
              <a:rPr lang="en-US" sz="1050" dirty="0"/>
              <a:t>(" retrying in 2s");</a:t>
            </a:r>
          </a:p>
          <a:p>
            <a:r>
              <a:rPr lang="en-US" sz="1050" dirty="0"/>
              <a:t>      delay(2000);</a:t>
            </a:r>
          </a:p>
          <a:p>
            <a:r>
              <a:rPr lang="en-US" sz="1050" dirty="0"/>
              <a:t>    }</a:t>
            </a:r>
          </a:p>
          <a:p>
            <a:r>
              <a:rPr lang="en-US" sz="1050" dirty="0"/>
              <a:t>  }</a:t>
            </a:r>
          </a:p>
          <a:p>
            <a:r>
              <a:rPr lang="en-US" sz="1050" dirty="0"/>
              <a:t>}</a:t>
            </a:r>
          </a:p>
        </p:txBody>
      </p:sp>
    </p:spTree>
    <p:extLst>
      <p:ext uri="{BB962C8B-B14F-4D97-AF65-F5344CB8AC3E}">
        <p14:creationId xmlns:p14="http://schemas.microsoft.com/office/powerpoint/2010/main" val="2725999784"/>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E4D02-EE4E-A4CF-A319-37CFB9FC6A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F521AF-498A-7A98-D66F-4E37268DE9A1}"/>
              </a:ext>
            </a:extLst>
          </p:cNvPr>
          <p:cNvSpPr txBox="1"/>
          <p:nvPr/>
        </p:nvSpPr>
        <p:spPr>
          <a:xfrm>
            <a:off x="990600" y="239931"/>
            <a:ext cx="10231120" cy="646331"/>
          </a:xfrm>
          <a:prstGeom prst="rect">
            <a:avLst/>
          </a:prstGeom>
          <a:noFill/>
        </p:spPr>
        <p:txBody>
          <a:bodyPr wrap="square" rtlCol="0">
            <a:spAutoFit/>
          </a:bodyPr>
          <a:lstStyle/>
          <a:p>
            <a:pPr algn="ctr"/>
            <a:r>
              <a:rPr lang="en-US" sz="3600" b="1" dirty="0">
                <a:latin typeface="+mj-lt"/>
              </a:rPr>
              <a:t>10. Program Code:</a:t>
            </a:r>
          </a:p>
        </p:txBody>
      </p:sp>
      <p:sp>
        <p:nvSpPr>
          <p:cNvPr id="4" name="TextBox 3">
            <a:extLst>
              <a:ext uri="{FF2B5EF4-FFF2-40B4-BE49-F238E27FC236}">
                <a16:creationId xmlns:a16="http://schemas.microsoft.com/office/drawing/2014/main" id="{F980DF97-FE4B-5F12-ABB7-37FCD23EAB41}"/>
              </a:ext>
            </a:extLst>
          </p:cNvPr>
          <p:cNvSpPr txBox="1"/>
          <p:nvPr/>
        </p:nvSpPr>
        <p:spPr>
          <a:xfrm>
            <a:off x="3048000" y="787107"/>
            <a:ext cx="6096000" cy="6070893"/>
          </a:xfrm>
          <a:prstGeom prst="rect">
            <a:avLst/>
          </a:prstGeom>
          <a:noFill/>
        </p:spPr>
        <p:txBody>
          <a:bodyPr wrap="square">
            <a:spAutoFit/>
          </a:bodyPr>
          <a:lstStyle/>
          <a:p>
            <a:r>
              <a:rPr lang="en-US" sz="1050" dirty="0"/>
              <a:t>void setup() {</a:t>
            </a:r>
          </a:p>
          <a:p>
            <a:r>
              <a:rPr lang="en-US" sz="1050" dirty="0"/>
              <a:t>  </a:t>
            </a:r>
            <a:r>
              <a:rPr lang="en-US" sz="1050" dirty="0" err="1"/>
              <a:t>Serial.begin</a:t>
            </a:r>
            <a:r>
              <a:rPr lang="en-US" sz="1050" dirty="0"/>
              <a:t>(115200);</a:t>
            </a:r>
          </a:p>
          <a:p>
            <a:br>
              <a:rPr lang="en-US" sz="1050" dirty="0"/>
            </a:br>
            <a:endParaRPr lang="en-US" sz="1050" dirty="0"/>
          </a:p>
          <a:p>
            <a:r>
              <a:rPr lang="en-US" sz="1050" dirty="0"/>
              <a:t>  </a:t>
            </a:r>
            <a:r>
              <a:rPr lang="en-US" sz="1050" dirty="0" err="1"/>
              <a:t>lcdMain.init</a:t>
            </a:r>
            <a:r>
              <a:rPr lang="en-US" sz="1050" dirty="0"/>
              <a:t>();</a:t>
            </a:r>
          </a:p>
          <a:p>
            <a:r>
              <a:rPr lang="en-US" sz="1050" dirty="0"/>
              <a:t>  </a:t>
            </a:r>
            <a:r>
              <a:rPr lang="en-US" sz="1050" dirty="0" err="1"/>
              <a:t>lcdMain.backlight</a:t>
            </a:r>
            <a:r>
              <a:rPr lang="en-US" sz="1050" dirty="0"/>
              <a:t>();</a:t>
            </a:r>
          </a:p>
          <a:p>
            <a:r>
              <a:rPr lang="en-US" sz="1050" dirty="0"/>
              <a:t>  </a:t>
            </a:r>
            <a:r>
              <a:rPr lang="en-US" sz="1050" dirty="0" err="1"/>
              <a:t>lcdLimit.init</a:t>
            </a:r>
            <a:r>
              <a:rPr lang="en-US" sz="1050" dirty="0"/>
              <a:t>();</a:t>
            </a:r>
          </a:p>
          <a:p>
            <a:r>
              <a:rPr lang="en-US" sz="1050" dirty="0"/>
              <a:t>  </a:t>
            </a:r>
            <a:r>
              <a:rPr lang="en-US" sz="1050" dirty="0" err="1"/>
              <a:t>lcdLimit.backlight</a:t>
            </a:r>
            <a:r>
              <a:rPr lang="en-US" sz="1050" dirty="0"/>
              <a:t>();</a:t>
            </a:r>
          </a:p>
          <a:p>
            <a:br>
              <a:rPr lang="en-US" sz="1050" dirty="0"/>
            </a:br>
            <a:endParaRPr lang="en-US" sz="1050" dirty="0"/>
          </a:p>
          <a:p>
            <a:r>
              <a:rPr lang="en-US" sz="1050" dirty="0"/>
              <a:t>  </a:t>
            </a:r>
            <a:r>
              <a:rPr lang="en-US" sz="1050" dirty="0" err="1"/>
              <a:t>dht.begin</a:t>
            </a:r>
            <a:r>
              <a:rPr lang="en-US" sz="1050" dirty="0"/>
              <a:t>();</a:t>
            </a:r>
          </a:p>
          <a:p>
            <a:br>
              <a:rPr lang="en-US" sz="1050" dirty="0"/>
            </a:br>
            <a:endParaRPr lang="en-US" sz="1050" dirty="0"/>
          </a:p>
          <a:p>
            <a:r>
              <a:rPr lang="en-US" sz="1050" dirty="0"/>
              <a:t>  </a:t>
            </a:r>
            <a:r>
              <a:rPr lang="en-US" sz="1050" dirty="0" err="1"/>
              <a:t>pinMode</a:t>
            </a:r>
            <a:r>
              <a:rPr lang="en-US" sz="1050" dirty="0"/>
              <a:t>(LED_PIN, OUTPUT);</a:t>
            </a:r>
          </a:p>
          <a:p>
            <a:r>
              <a:rPr lang="en-US" sz="1050" dirty="0"/>
              <a:t>  </a:t>
            </a:r>
            <a:r>
              <a:rPr lang="en-US" sz="1050" dirty="0" err="1"/>
              <a:t>windowServo.attach</a:t>
            </a:r>
            <a:r>
              <a:rPr lang="en-US" sz="1050" dirty="0"/>
              <a:t>(SERVO_PIN);</a:t>
            </a:r>
          </a:p>
          <a:p>
            <a:br>
              <a:rPr lang="en-US" sz="1050" dirty="0"/>
            </a:br>
            <a:endParaRPr lang="en-US" sz="1050" dirty="0"/>
          </a:p>
          <a:p>
            <a:r>
              <a:rPr lang="en-US" sz="1050" dirty="0"/>
              <a:t>  </a:t>
            </a:r>
            <a:r>
              <a:rPr lang="en-US" sz="1050" dirty="0" err="1"/>
              <a:t>Wire.begin</a:t>
            </a:r>
            <a:r>
              <a:rPr lang="en-US" sz="1050" dirty="0"/>
              <a:t>(21, 22);</a:t>
            </a:r>
          </a:p>
          <a:p>
            <a:br>
              <a:rPr lang="en-US" sz="1050" dirty="0"/>
            </a:br>
            <a:endParaRPr lang="en-US" sz="1050" dirty="0"/>
          </a:p>
          <a:p>
            <a:r>
              <a:rPr lang="en-US" sz="1050" dirty="0"/>
              <a:t>  </a:t>
            </a:r>
            <a:r>
              <a:rPr lang="en-US" sz="1050" dirty="0" err="1"/>
              <a:t>setup_wifi</a:t>
            </a:r>
            <a:r>
              <a:rPr lang="en-US" sz="1050" dirty="0"/>
              <a:t>();</a:t>
            </a:r>
          </a:p>
          <a:p>
            <a:br>
              <a:rPr lang="en-US" sz="1050" dirty="0"/>
            </a:br>
            <a:endParaRPr lang="en-US" sz="1050" dirty="0"/>
          </a:p>
          <a:p>
            <a:r>
              <a:rPr lang="en-US" sz="1050" dirty="0"/>
              <a:t>  </a:t>
            </a:r>
            <a:r>
              <a:rPr lang="en-US" sz="1050" dirty="0" err="1"/>
              <a:t>espClient.setInsecure</a:t>
            </a:r>
            <a:r>
              <a:rPr lang="en-US" sz="1050" dirty="0"/>
              <a:t>();</a:t>
            </a:r>
          </a:p>
          <a:p>
            <a:r>
              <a:rPr lang="en-US" sz="1050" dirty="0"/>
              <a:t>  </a:t>
            </a:r>
            <a:r>
              <a:rPr lang="en-US" sz="1050" dirty="0" err="1"/>
              <a:t>client.setServer</a:t>
            </a:r>
            <a:r>
              <a:rPr lang="en-US" sz="1050" dirty="0"/>
              <a:t>(</a:t>
            </a:r>
            <a:r>
              <a:rPr lang="en-US" sz="1050" dirty="0" err="1"/>
              <a:t>mqtt_server</a:t>
            </a:r>
            <a:r>
              <a:rPr lang="en-US" sz="1050" dirty="0"/>
              <a:t>, </a:t>
            </a:r>
            <a:r>
              <a:rPr lang="en-US" sz="1050" dirty="0" err="1"/>
              <a:t>mqtt_port</a:t>
            </a:r>
            <a:r>
              <a:rPr lang="en-US" sz="1050" dirty="0"/>
              <a:t>);</a:t>
            </a:r>
          </a:p>
          <a:p>
            <a:r>
              <a:rPr lang="en-US" sz="1050" dirty="0"/>
              <a:t>  </a:t>
            </a:r>
            <a:r>
              <a:rPr lang="en-US" sz="1050" dirty="0" err="1"/>
              <a:t>client.setCallback</a:t>
            </a:r>
            <a:r>
              <a:rPr lang="en-US" sz="1050" dirty="0"/>
              <a:t>(callback);</a:t>
            </a:r>
          </a:p>
          <a:p>
            <a:r>
              <a:rPr lang="en-US" sz="1050" dirty="0"/>
              <a:t>  </a:t>
            </a:r>
            <a:r>
              <a:rPr lang="en-US" sz="1050" dirty="0" err="1"/>
              <a:t>client.setBufferSize</a:t>
            </a:r>
            <a:r>
              <a:rPr lang="en-US" sz="1050" dirty="0"/>
              <a:t>(512);</a:t>
            </a:r>
          </a:p>
          <a:p>
            <a:r>
              <a:rPr lang="en-US" sz="1050" dirty="0"/>
              <a:t>}</a:t>
            </a:r>
          </a:p>
          <a:p>
            <a:br>
              <a:rPr lang="en-US" sz="1050" dirty="0"/>
            </a:br>
            <a:endParaRPr lang="en-US" sz="1050" dirty="0"/>
          </a:p>
          <a:p>
            <a:r>
              <a:rPr lang="en-US" sz="1050" dirty="0"/>
              <a:t>void loop() {</a:t>
            </a:r>
          </a:p>
          <a:p>
            <a:r>
              <a:rPr lang="en-US" sz="1050" dirty="0"/>
              <a:t>  if (</a:t>
            </a:r>
            <a:r>
              <a:rPr lang="en-US" sz="1050" dirty="0" err="1"/>
              <a:t>WiFi.status</a:t>
            </a:r>
            <a:r>
              <a:rPr lang="en-US" sz="1050" dirty="0"/>
              <a:t>() != WL_CONNECTED) {</a:t>
            </a:r>
          </a:p>
          <a:p>
            <a:r>
              <a:rPr lang="en-US" sz="1050" dirty="0"/>
              <a:t>    </a:t>
            </a:r>
            <a:r>
              <a:rPr lang="en-US" sz="1050" dirty="0" err="1"/>
              <a:t>setup_wifi</a:t>
            </a:r>
            <a:r>
              <a:rPr lang="en-US" sz="1050" dirty="0"/>
              <a:t>();</a:t>
            </a:r>
          </a:p>
          <a:p>
            <a:r>
              <a:rPr lang="en-US" sz="1050" dirty="0"/>
              <a:t>  }</a:t>
            </a:r>
          </a:p>
          <a:p>
            <a:r>
              <a:rPr lang="en-US" sz="1050" dirty="0"/>
              <a:t>  if (!</a:t>
            </a:r>
            <a:r>
              <a:rPr lang="en-US" sz="1050" dirty="0" err="1"/>
              <a:t>client.connected</a:t>
            </a:r>
            <a:r>
              <a:rPr lang="en-US" sz="1050" dirty="0"/>
              <a:t>()) {</a:t>
            </a:r>
          </a:p>
          <a:p>
            <a:r>
              <a:rPr lang="en-US" sz="1050" dirty="0"/>
              <a:t>    reconnect();</a:t>
            </a:r>
          </a:p>
          <a:p>
            <a:r>
              <a:rPr lang="en-US" sz="1050" dirty="0"/>
              <a:t>  }</a:t>
            </a:r>
          </a:p>
        </p:txBody>
      </p:sp>
    </p:spTree>
    <p:extLst>
      <p:ext uri="{BB962C8B-B14F-4D97-AF65-F5344CB8AC3E}">
        <p14:creationId xmlns:p14="http://schemas.microsoft.com/office/powerpoint/2010/main" val="2499113272"/>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2FF06-FACB-C376-04E0-AE25B06EA0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C66174-F374-E972-9CEA-0945104F7802}"/>
              </a:ext>
            </a:extLst>
          </p:cNvPr>
          <p:cNvSpPr txBox="1"/>
          <p:nvPr/>
        </p:nvSpPr>
        <p:spPr>
          <a:xfrm>
            <a:off x="1143000" y="0"/>
            <a:ext cx="10231120" cy="646331"/>
          </a:xfrm>
          <a:prstGeom prst="rect">
            <a:avLst/>
          </a:prstGeom>
          <a:noFill/>
        </p:spPr>
        <p:txBody>
          <a:bodyPr wrap="square" rtlCol="0">
            <a:spAutoFit/>
          </a:bodyPr>
          <a:lstStyle/>
          <a:p>
            <a:pPr algn="ctr"/>
            <a:r>
              <a:rPr lang="en-US" sz="3600" b="1" dirty="0">
                <a:latin typeface="+mj-lt"/>
              </a:rPr>
              <a:t>10. Program Code:</a:t>
            </a:r>
          </a:p>
        </p:txBody>
      </p:sp>
      <p:sp>
        <p:nvSpPr>
          <p:cNvPr id="4" name="TextBox 3">
            <a:extLst>
              <a:ext uri="{FF2B5EF4-FFF2-40B4-BE49-F238E27FC236}">
                <a16:creationId xmlns:a16="http://schemas.microsoft.com/office/drawing/2014/main" id="{63C5DC90-3F3B-24A2-C1D9-A281864C4347}"/>
              </a:ext>
            </a:extLst>
          </p:cNvPr>
          <p:cNvSpPr txBox="1"/>
          <p:nvPr/>
        </p:nvSpPr>
        <p:spPr>
          <a:xfrm>
            <a:off x="3048000" y="487096"/>
            <a:ext cx="6096000" cy="6376104"/>
          </a:xfrm>
          <a:prstGeom prst="rect">
            <a:avLst/>
          </a:prstGeom>
          <a:noFill/>
        </p:spPr>
        <p:txBody>
          <a:bodyPr wrap="square">
            <a:spAutoFit/>
          </a:bodyPr>
          <a:lstStyle/>
          <a:p>
            <a:r>
              <a:rPr lang="en-US" sz="1050" dirty="0"/>
              <a:t>  </a:t>
            </a:r>
            <a:r>
              <a:rPr lang="en-US" sz="1050" dirty="0" err="1"/>
              <a:t>client.loop</a:t>
            </a:r>
            <a:r>
              <a:rPr lang="en-US" sz="1050" dirty="0"/>
              <a:t>();</a:t>
            </a:r>
          </a:p>
          <a:p>
            <a:br>
              <a:rPr lang="en-US" sz="1050" dirty="0"/>
            </a:br>
            <a:endParaRPr lang="en-US" sz="1050" dirty="0"/>
          </a:p>
          <a:p>
            <a:r>
              <a:rPr lang="en-US" sz="1050" dirty="0"/>
              <a:t>  temperature = </a:t>
            </a:r>
            <a:r>
              <a:rPr lang="en-US" sz="1050" dirty="0" err="1"/>
              <a:t>dht.readTemperature</a:t>
            </a:r>
            <a:r>
              <a:rPr lang="en-US" sz="1050" dirty="0"/>
              <a:t>();</a:t>
            </a:r>
          </a:p>
          <a:p>
            <a:r>
              <a:rPr lang="en-US" sz="1050" dirty="0"/>
              <a:t>  humidity = </a:t>
            </a:r>
            <a:r>
              <a:rPr lang="en-US" sz="1050" dirty="0" err="1"/>
              <a:t>dht.readHumidity</a:t>
            </a:r>
            <a:r>
              <a:rPr lang="en-US" sz="1050" dirty="0"/>
              <a:t>();</a:t>
            </a:r>
          </a:p>
          <a:p>
            <a:br>
              <a:rPr lang="en-US" sz="1050" dirty="0"/>
            </a:br>
            <a:endParaRPr lang="en-US" sz="1050" dirty="0"/>
          </a:p>
          <a:p>
            <a:r>
              <a:rPr lang="en-US" sz="1050" dirty="0"/>
              <a:t>  if (</a:t>
            </a:r>
            <a:r>
              <a:rPr lang="en-US" sz="1050" dirty="0" err="1"/>
              <a:t>isnan</a:t>
            </a:r>
            <a:r>
              <a:rPr lang="en-US" sz="1050" dirty="0"/>
              <a:t>(temperature) || </a:t>
            </a:r>
            <a:r>
              <a:rPr lang="en-US" sz="1050" dirty="0" err="1"/>
              <a:t>isnan</a:t>
            </a:r>
            <a:r>
              <a:rPr lang="en-US" sz="1050" dirty="0"/>
              <a:t>(humidity)) {</a:t>
            </a:r>
          </a:p>
          <a:p>
            <a:r>
              <a:rPr lang="en-US" sz="1050" dirty="0"/>
              <a:t>    </a:t>
            </a:r>
            <a:r>
              <a:rPr lang="en-US" sz="1050" dirty="0" err="1"/>
              <a:t>Serial.println</a:t>
            </a:r>
            <a:r>
              <a:rPr lang="en-US" sz="1050" dirty="0"/>
              <a:t>("DHT read failed");</a:t>
            </a:r>
          </a:p>
          <a:p>
            <a:r>
              <a:rPr lang="en-US" sz="1050" dirty="0"/>
              <a:t>    delay(2000);</a:t>
            </a:r>
          </a:p>
          <a:p>
            <a:r>
              <a:rPr lang="en-US" sz="1050" dirty="0"/>
              <a:t>    return;</a:t>
            </a:r>
          </a:p>
          <a:p>
            <a:r>
              <a:rPr lang="en-US" sz="1050" dirty="0"/>
              <a:t>  }</a:t>
            </a:r>
          </a:p>
          <a:p>
            <a:br>
              <a:rPr lang="en-US" sz="1050" dirty="0"/>
            </a:br>
            <a:endParaRPr lang="en-US" sz="1050" dirty="0"/>
          </a:p>
          <a:p>
            <a:r>
              <a:rPr lang="en-US" sz="1050" dirty="0"/>
              <a:t>  if (temperature &gt; </a:t>
            </a:r>
            <a:r>
              <a:rPr lang="en-US" sz="1050" dirty="0" err="1"/>
              <a:t>temperature_limit</a:t>
            </a:r>
            <a:r>
              <a:rPr lang="en-US" sz="1050" dirty="0"/>
              <a:t> || humidity &gt; </a:t>
            </a:r>
            <a:r>
              <a:rPr lang="en-US" sz="1050" dirty="0" err="1"/>
              <a:t>humidity_limit</a:t>
            </a:r>
            <a:r>
              <a:rPr lang="en-US" sz="1050" dirty="0"/>
              <a:t>) {</a:t>
            </a:r>
          </a:p>
          <a:p>
            <a:r>
              <a:rPr lang="en-US" sz="1050" dirty="0"/>
              <a:t>    </a:t>
            </a:r>
            <a:r>
              <a:rPr lang="en-US" sz="1050" dirty="0" err="1"/>
              <a:t>windowServo.write</a:t>
            </a:r>
            <a:r>
              <a:rPr lang="en-US" sz="1050" dirty="0"/>
              <a:t>(90);</a:t>
            </a:r>
          </a:p>
          <a:p>
            <a:r>
              <a:rPr lang="en-US" sz="1050" dirty="0"/>
              <a:t>    </a:t>
            </a:r>
            <a:r>
              <a:rPr lang="en-US" sz="1050" dirty="0" err="1"/>
              <a:t>digitalWrite</a:t>
            </a:r>
            <a:r>
              <a:rPr lang="en-US" sz="1050" dirty="0"/>
              <a:t>(LED_PIN, HIGH);</a:t>
            </a:r>
          </a:p>
          <a:p>
            <a:r>
              <a:rPr lang="en-US" sz="1050" dirty="0"/>
              <a:t>    </a:t>
            </a:r>
            <a:r>
              <a:rPr lang="en-US" sz="1050" dirty="0" err="1"/>
              <a:t>windowState</a:t>
            </a:r>
            <a:r>
              <a:rPr lang="en-US" sz="1050" dirty="0"/>
              <a:t> = "Open";</a:t>
            </a:r>
          </a:p>
          <a:p>
            <a:r>
              <a:rPr lang="en-US" sz="1050" dirty="0"/>
              <a:t>    </a:t>
            </a:r>
            <a:r>
              <a:rPr lang="en-US" sz="1050" dirty="0" err="1"/>
              <a:t>fanState</a:t>
            </a:r>
            <a:r>
              <a:rPr lang="en-US" sz="1050" dirty="0"/>
              <a:t> = "On";</a:t>
            </a:r>
          </a:p>
          <a:p>
            <a:r>
              <a:rPr lang="en-US" sz="1050" dirty="0"/>
              <a:t>  } else {</a:t>
            </a:r>
          </a:p>
          <a:p>
            <a:r>
              <a:rPr lang="en-US" sz="1050" dirty="0"/>
              <a:t>    </a:t>
            </a:r>
            <a:r>
              <a:rPr lang="en-US" sz="1050" dirty="0" err="1"/>
              <a:t>windowServo.write</a:t>
            </a:r>
            <a:r>
              <a:rPr lang="en-US" sz="1050" dirty="0"/>
              <a:t>(0);</a:t>
            </a:r>
          </a:p>
          <a:p>
            <a:r>
              <a:rPr lang="en-US" sz="1050" dirty="0"/>
              <a:t>    </a:t>
            </a:r>
            <a:r>
              <a:rPr lang="en-US" sz="1050" dirty="0" err="1"/>
              <a:t>digitalWrite</a:t>
            </a:r>
            <a:r>
              <a:rPr lang="en-US" sz="1050" dirty="0"/>
              <a:t>(LED_PIN, LOW);</a:t>
            </a:r>
          </a:p>
          <a:p>
            <a:r>
              <a:rPr lang="en-US" sz="1050" dirty="0"/>
              <a:t>    </a:t>
            </a:r>
            <a:r>
              <a:rPr lang="en-US" sz="1050" dirty="0" err="1"/>
              <a:t>windowState</a:t>
            </a:r>
            <a:r>
              <a:rPr lang="en-US" sz="1050" dirty="0"/>
              <a:t> = "Closed";</a:t>
            </a:r>
          </a:p>
          <a:p>
            <a:r>
              <a:rPr lang="en-US" sz="1050" dirty="0"/>
              <a:t>    </a:t>
            </a:r>
            <a:r>
              <a:rPr lang="en-US" sz="1050" dirty="0" err="1"/>
              <a:t>fanState</a:t>
            </a:r>
            <a:r>
              <a:rPr lang="en-US" sz="1050" dirty="0"/>
              <a:t> = "Off";</a:t>
            </a:r>
          </a:p>
          <a:p>
            <a:r>
              <a:rPr lang="en-US" sz="1050" dirty="0"/>
              <a:t>  }</a:t>
            </a:r>
          </a:p>
          <a:p>
            <a:br>
              <a:rPr lang="en-US" sz="1050" dirty="0"/>
            </a:br>
            <a:endParaRPr lang="en-US" sz="1050" dirty="0"/>
          </a:p>
          <a:p>
            <a:pPr>
              <a:lnSpc>
                <a:spcPts val="1425"/>
              </a:lnSpc>
              <a:buNone/>
            </a:pPr>
            <a:r>
              <a:rPr lang="en-US" sz="1050" dirty="0">
                <a:latin typeface="Arial" panose="020B0604020202020204" pitchFamily="34" charset="0"/>
                <a:cs typeface="Arial" panose="020B0604020202020204" pitchFamily="34" charset="0"/>
              </a:rPr>
              <a:t> </a:t>
            </a:r>
            <a:r>
              <a:rPr lang="en-US" sz="1050" dirty="0">
                <a:effectLst/>
                <a:latin typeface="Arial" panose="020B0604020202020204" pitchFamily="34" charset="0"/>
                <a:cs typeface="Arial" panose="020B0604020202020204" pitchFamily="34" charset="0"/>
              </a:rPr>
              <a:t>String payload = "{";</a:t>
            </a:r>
          </a:p>
          <a:p>
            <a:pPr>
              <a:lnSpc>
                <a:spcPts val="1425"/>
              </a:lnSpc>
              <a:buNone/>
            </a:pPr>
            <a:r>
              <a:rPr lang="en-US" sz="1050" dirty="0">
                <a:effectLst/>
                <a:latin typeface="Arial" panose="020B0604020202020204" pitchFamily="34" charset="0"/>
                <a:cs typeface="Arial" panose="020B0604020202020204" pitchFamily="34" charset="0"/>
              </a:rPr>
              <a:t>  payload += "\"temperature\":" + String(temperature) + ",";</a:t>
            </a:r>
          </a:p>
          <a:p>
            <a:pPr>
              <a:lnSpc>
                <a:spcPts val="1425"/>
              </a:lnSpc>
              <a:buNone/>
            </a:pPr>
            <a:r>
              <a:rPr lang="en-US" sz="1050" dirty="0">
                <a:effectLst/>
                <a:latin typeface="Arial" panose="020B0604020202020204" pitchFamily="34" charset="0"/>
                <a:cs typeface="Arial" panose="020B0604020202020204" pitchFamily="34" charset="0"/>
              </a:rPr>
              <a:t>  payload += "\"humidity\":" + String(humidity) + ",";</a:t>
            </a:r>
          </a:p>
          <a:p>
            <a:pPr>
              <a:lnSpc>
                <a:spcPts val="1425"/>
              </a:lnSpc>
              <a:buNone/>
            </a:pPr>
            <a:r>
              <a:rPr lang="en-US" sz="1050" dirty="0">
                <a:effectLst/>
                <a:latin typeface="Arial" panose="020B0604020202020204" pitchFamily="34" charset="0"/>
                <a:cs typeface="Arial" panose="020B0604020202020204" pitchFamily="34" charset="0"/>
              </a:rPr>
              <a:t>  payload += "\"</a:t>
            </a:r>
            <a:r>
              <a:rPr lang="en-US" sz="1050" dirty="0" err="1">
                <a:effectLst/>
                <a:latin typeface="Arial" panose="020B0604020202020204" pitchFamily="34" charset="0"/>
                <a:cs typeface="Arial" panose="020B0604020202020204" pitchFamily="34" charset="0"/>
              </a:rPr>
              <a:t>temp_limit</a:t>
            </a:r>
            <a:r>
              <a:rPr lang="en-US" sz="1050" dirty="0">
                <a:effectLst/>
                <a:latin typeface="Arial" panose="020B0604020202020204" pitchFamily="34" charset="0"/>
                <a:cs typeface="Arial" panose="020B0604020202020204" pitchFamily="34" charset="0"/>
              </a:rPr>
              <a:t>\":" + String(</a:t>
            </a:r>
            <a:r>
              <a:rPr lang="en-US" sz="1050" dirty="0" err="1">
                <a:effectLst/>
                <a:latin typeface="Arial" panose="020B0604020202020204" pitchFamily="34" charset="0"/>
                <a:cs typeface="Arial" panose="020B0604020202020204" pitchFamily="34" charset="0"/>
              </a:rPr>
              <a:t>temperature_limit</a:t>
            </a:r>
            <a:r>
              <a:rPr lang="en-US" sz="1050" dirty="0">
                <a:effectLst/>
                <a:latin typeface="Arial" panose="020B0604020202020204" pitchFamily="34" charset="0"/>
                <a:cs typeface="Arial" panose="020B0604020202020204" pitchFamily="34" charset="0"/>
              </a:rPr>
              <a:t>) + ",";</a:t>
            </a:r>
          </a:p>
          <a:p>
            <a:pPr>
              <a:lnSpc>
                <a:spcPts val="1425"/>
              </a:lnSpc>
              <a:buNone/>
            </a:pPr>
            <a:r>
              <a:rPr lang="en-US" sz="1050" dirty="0">
                <a:effectLst/>
                <a:latin typeface="Arial" panose="020B0604020202020204" pitchFamily="34" charset="0"/>
                <a:cs typeface="Arial" panose="020B0604020202020204" pitchFamily="34" charset="0"/>
              </a:rPr>
              <a:t>  payload += "\"</a:t>
            </a:r>
            <a:r>
              <a:rPr lang="en-US" sz="1050" dirty="0" err="1">
                <a:effectLst/>
                <a:latin typeface="Arial" panose="020B0604020202020204" pitchFamily="34" charset="0"/>
                <a:cs typeface="Arial" panose="020B0604020202020204" pitchFamily="34" charset="0"/>
              </a:rPr>
              <a:t>hum_limit</a:t>
            </a:r>
            <a:r>
              <a:rPr lang="en-US" sz="1050" dirty="0">
                <a:effectLst/>
                <a:latin typeface="Arial" panose="020B0604020202020204" pitchFamily="34" charset="0"/>
                <a:cs typeface="Arial" panose="020B0604020202020204" pitchFamily="34" charset="0"/>
              </a:rPr>
              <a:t>\":" + String(</a:t>
            </a:r>
            <a:r>
              <a:rPr lang="en-US" sz="1050" dirty="0" err="1">
                <a:effectLst/>
                <a:latin typeface="Arial" panose="020B0604020202020204" pitchFamily="34" charset="0"/>
                <a:cs typeface="Arial" panose="020B0604020202020204" pitchFamily="34" charset="0"/>
              </a:rPr>
              <a:t>humidity_limit</a:t>
            </a:r>
            <a:r>
              <a:rPr lang="en-US" sz="1050" dirty="0">
                <a:effectLst/>
                <a:latin typeface="Arial" panose="020B0604020202020204" pitchFamily="34" charset="0"/>
                <a:cs typeface="Arial" panose="020B0604020202020204" pitchFamily="34" charset="0"/>
              </a:rPr>
              <a:t>) + ",";</a:t>
            </a:r>
          </a:p>
          <a:p>
            <a:pPr>
              <a:lnSpc>
                <a:spcPts val="1425"/>
              </a:lnSpc>
              <a:buNone/>
            </a:pPr>
            <a:r>
              <a:rPr lang="en-US" sz="1050" dirty="0">
                <a:effectLst/>
                <a:latin typeface="Arial" panose="020B0604020202020204" pitchFamily="34" charset="0"/>
                <a:cs typeface="Arial" panose="020B0604020202020204" pitchFamily="34" charset="0"/>
              </a:rPr>
              <a:t>  payload += "\"window\":\"" + </a:t>
            </a:r>
            <a:r>
              <a:rPr lang="en-US" sz="1050" dirty="0" err="1">
                <a:effectLst/>
                <a:latin typeface="Arial" panose="020B0604020202020204" pitchFamily="34" charset="0"/>
                <a:cs typeface="Arial" panose="020B0604020202020204" pitchFamily="34" charset="0"/>
              </a:rPr>
              <a:t>windowState</a:t>
            </a:r>
            <a:r>
              <a:rPr lang="en-US" sz="1050" dirty="0">
                <a:effectLst/>
                <a:latin typeface="Arial" panose="020B0604020202020204" pitchFamily="34" charset="0"/>
                <a:cs typeface="Arial" panose="020B0604020202020204" pitchFamily="34" charset="0"/>
              </a:rPr>
              <a:t> + "\",";</a:t>
            </a:r>
          </a:p>
          <a:p>
            <a:pPr>
              <a:lnSpc>
                <a:spcPts val="1425"/>
              </a:lnSpc>
              <a:buNone/>
            </a:pPr>
            <a:r>
              <a:rPr lang="en-US" sz="1050" dirty="0">
                <a:effectLst/>
                <a:latin typeface="Arial" panose="020B0604020202020204" pitchFamily="34" charset="0"/>
                <a:cs typeface="Arial" panose="020B0604020202020204" pitchFamily="34" charset="0"/>
              </a:rPr>
              <a:t>  payload += "\"fan\":\"" + </a:t>
            </a:r>
            <a:r>
              <a:rPr lang="en-US" sz="1050" dirty="0" err="1">
                <a:effectLst/>
                <a:latin typeface="Arial" panose="020B0604020202020204" pitchFamily="34" charset="0"/>
                <a:cs typeface="Arial" panose="020B0604020202020204" pitchFamily="34" charset="0"/>
              </a:rPr>
              <a:t>fanState</a:t>
            </a:r>
            <a:r>
              <a:rPr lang="en-US" sz="1050" dirty="0">
                <a:effectLst/>
                <a:latin typeface="Arial" panose="020B0604020202020204" pitchFamily="34" charset="0"/>
                <a:cs typeface="Arial" panose="020B0604020202020204" pitchFamily="34" charset="0"/>
              </a:rPr>
              <a:t> + "\"";</a:t>
            </a:r>
          </a:p>
          <a:p>
            <a:pPr>
              <a:lnSpc>
                <a:spcPts val="1425"/>
              </a:lnSpc>
              <a:buNone/>
            </a:pPr>
            <a:r>
              <a:rPr lang="en-US" sz="1050" dirty="0">
                <a:effectLst/>
                <a:latin typeface="Arial" panose="020B0604020202020204" pitchFamily="34" charset="0"/>
                <a:cs typeface="Arial" panose="020B0604020202020204" pitchFamily="34" charset="0"/>
              </a:rPr>
              <a:t>  payload += "}";</a:t>
            </a:r>
          </a:p>
          <a:p>
            <a:br>
              <a:rPr lang="en-US" sz="1050" dirty="0"/>
            </a:br>
            <a:endParaRPr lang="en-US" sz="1050" dirty="0"/>
          </a:p>
          <a:p>
            <a:r>
              <a:rPr lang="en-US" sz="1050" dirty="0"/>
              <a:t>  </a:t>
            </a:r>
            <a:r>
              <a:rPr lang="en-US" sz="1050" dirty="0" err="1"/>
              <a:t>client.publish</a:t>
            </a:r>
            <a:r>
              <a:rPr lang="en-US" sz="1050" dirty="0"/>
              <a:t>("greenhouse/sensor1", </a:t>
            </a:r>
            <a:r>
              <a:rPr lang="en-US" sz="1050" dirty="0" err="1"/>
              <a:t>payload.c_str</a:t>
            </a:r>
            <a:r>
              <a:rPr lang="en-US" sz="1050" dirty="0"/>
              <a:t>());</a:t>
            </a:r>
          </a:p>
        </p:txBody>
      </p:sp>
    </p:spTree>
    <p:extLst>
      <p:ext uri="{BB962C8B-B14F-4D97-AF65-F5344CB8AC3E}">
        <p14:creationId xmlns:p14="http://schemas.microsoft.com/office/powerpoint/2010/main" val="1198218744"/>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A28B-2058-593B-4DAA-14282C0848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50DED9-ED05-90FE-B9B4-1F2F59FF52ED}"/>
              </a:ext>
            </a:extLst>
          </p:cNvPr>
          <p:cNvSpPr txBox="1"/>
          <p:nvPr/>
        </p:nvSpPr>
        <p:spPr>
          <a:xfrm>
            <a:off x="-1701800" y="239931"/>
            <a:ext cx="10231120" cy="646331"/>
          </a:xfrm>
          <a:prstGeom prst="rect">
            <a:avLst/>
          </a:prstGeom>
          <a:noFill/>
        </p:spPr>
        <p:txBody>
          <a:bodyPr wrap="square" rtlCol="0">
            <a:spAutoFit/>
          </a:bodyPr>
          <a:lstStyle/>
          <a:p>
            <a:pPr algn="ctr"/>
            <a:r>
              <a:rPr lang="en-US" sz="3600" b="1" dirty="0">
                <a:latin typeface="+mj-lt"/>
              </a:rPr>
              <a:t>10. Program Code:</a:t>
            </a:r>
          </a:p>
        </p:txBody>
      </p:sp>
      <p:sp>
        <p:nvSpPr>
          <p:cNvPr id="4" name="TextBox 3">
            <a:extLst>
              <a:ext uri="{FF2B5EF4-FFF2-40B4-BE49-F238E27FC236}">
                <a16:creationId xmlns:a16="http://schemas.microsoft.com/office/drawing/2014/main" id="{88FFC492-6D0E-B57D-18BE-5D7BB98B4E69}"/>
              </a:ext>
            </a:extLst>
          </p:cNvPr>
          <p:cNvSpPr txBox="1"/>
          <p:nvPr/>
        </p:nvSpPr>
        <p:spPr>
          <a:xfrm>
            <a:off x="6096000" y="211375"/>
            <a:ext cx="6096000" cy="6717223"/>
          </a:xfrm>
          <a:prstGeom prst="rect">
            <a:avLst/>
          </a:prstGeom>
          <a:noFill/>
        </p:spPr>
        <p:txBody>
          <a:bodyPr wrap="square">
            <a:spAutoFit/>
          </a:bodyPr>
          <a:lstStyle/>
          <a:p>
            <a:r>
              <a:rPr lang="en-US" sz="1050" dirty="0"/>
              <a:t>  </a:t>
            </a:r>
            <a:r>
              <a:rPr lang="en-US" sz="1050" dirty="0" err="1"/>
              <a:t>lcdMain.setCursor</a:t>
            </a:r>
            <a:r>
              <a:rPr lang="en-US" sz="1050" dirty="0"/>
              <a:t>(0, 0);</a:t>
            </a:r>
          </a:p>
          <a:p>
            <a:r>
              <a:rPr lang="en-US" sz="1050" dirty="0"/>
              <a:t>  </a:t>
            </a:r>
            <a:r>
              <a:rPr lang="en-US" sz="1050" dirty="0" err="1"/>
              <a:t>lcdMain.print</a:t>
            </a:r>
            <a:r>
              <a:rPr lang="en-US" sz="1050" dirty="0"/>
              <a:t>("Temperature: ");</a:t>
            </a:r>
          </a:p>
          <a:p>
            <a:r>
              <a:rPr lang="en-US" sz="1050" dirty="0"/>
              <a:t>  </a:t>
            </a:r>
            <a:r>
              <a:rPr lang="en-US" sz="1050" dirty="0" err="1"/>
              <a:t>lcdMain.print</a:t>
            </a:r>
            <a:r>
              <a:rPr lang="en-US" sz="1050" dirty="0"/>
              <a:t>(temperature);</a:t>
            </a:r>
          </a:p>
          <a:p>
            <a:r>
              <a:rPr lang="en-US" sz="1050" dirty="0"/>
              <a:t>  </a:t>
            </a:r>
            <a:r>
              <a:rPr lang="en-US" sz="1050" dirty="0" err="1"/>
              <a:t>lcdMain.print</a:t>
            </a:r>
            <a:r>
              <a:rPr lang="en-US" sz="1050" dirty="0"/>
              <a:t>(" C     ");</a:t>
            </a:r>
          </a:p>
          <a:p>
            <a:br>
              <a:rPr lang="en-US" sz="1050" dirty="0"/>
            </a:br>
            <a:endParaRPr lang="en-US" sz="1050" dirty="0"/>
          </a:p>
          <a:p>
            <a:r>
              <a:rPr lang="en-US" sz="1050" dirty="0"/>
              <a:t>  </a:t>
            </a:r>
            <a:r>
              <a:rPr lang="en-US" sz="1050" dirty="0" err="1"/>
              <a:t>lcdMain.setCursor</a:t>
            </a:r>
            <a:r>
              <a:rPr lang="en-US" sz="1050" dirty="0"/>
              <a:t>(0, 1);</a:t>
            </a:r>
          </a:p>
          <a:p>
            <a:r>
              <a:rPr lang="en-US" sz="1050" dirty="0"/>
              <a:t>  </a:t>
            </a:r>
            <a:r>
              <a:rPr lang="en-US" sz="1050" dirty="0" err="1"/>
              <a:t>lcdMain.print</a:t>
            </a:r>
            <a:r>
              <a:rPr lang="en-US" sz="1050" dirty="0"/>
              <a:t>("Humidity: ");</a:t>
            </a:r>
          </a:p>
          <a:p>
            <a:r>
              <a:rPr lang="en-US" sz="1050" dirty="0"/>
              <a:t>  </a:t>
            </a:r>
            <a:r>
              <a:rPr lang="en-US" sz="1050" dirty="0" err="1"/>
              <a:t>lcdMain.print</a:t>
            </a:r>
            <a:r>
              <a:rPr lang="en-US" sz="1050" dirty="0"/>
              <a:t>(humidity);</a:t>
            </a:r>
          </a:p>
          <a:p>
            <a:r>
              <a:rPr lang="en-US" sz="1050" dirty="0"/>
              <a:t>  </a:t>
            </a:r>
            <a:r>
              <a:rPr lang="en-US" sz="1050" dirty="0" err="1"/>
              <a:t>lcdMain.print</a:t>
            </a:r>
            <a:r>
              <a:rPr lang="en-US" sz="1050" dirty="0"/>
              <a:t>(" %     ");</a:t>
            </a:r>
          </a:p>
          <a:p>
            <a:br>
              <a:rPr lang="en-US" sz="1050" dirty="0"/>
            </a:br>
            <a:endParaRPr lang="en-US" sz="1050" dirty="0"/>
          </a:p>
          <a:p>
            <a:r>
              <a:rPr lang="en-US" sz="1050" dirty="0"/>
              <a:t>  </a:t>
            </a:r>
            <a:r>
              <a:rPr lang="en-US" sz="1050" dirty="0" err="1"/>
              <a:t>lcdMain.setCursor</a:t>
            </a:r>
            <a:r>
              <a:rPr lang="en-US" sz="1050" dirty="0"/>
              <a:t>(0, 2);</a:t>
            </a:r>
          </a:p>
          <a:p>
            <a:r>
              <a:rPr lang="en-US" sz="1050" dirty="0"/>
              <a:t>  </a:t>
            </a:r>
            <a:r>
              <a:rPr lang="en-US" sz="1050" dirty="0" err="1"/>
              <a:t>lcdMain.print</a:t>
            </a:r>
            <a:r>
              <a:rPr lang="en-US" sz="1050" dirty="0"/>
              <a:t>("Window: ");</a:t>
            </a:r>
          </a:p>
          <a:p>
            <a:r>
              <a:rPr lang="en-US" sz="1050" dirty="0"/>
              <a:t>  </a:t>
            </a:r>
            <a:r>
              <a:rPr lang="en-US" sz="1050" dirty="0" err="1"/>
              <a:t>lcdMain.print</a:t>
            </a:r>
            <a:r>
              <a:rPr lang="en-US" sz="1050" dirty="0"/>
              <a:t>(</a:t>
            </a:r>
            <a:r>
              <a:rPr lang="en-US" sz="1050" dirty="0" err="1"/>
              <a:t>windowState</a:t>
            </a:r>
            <a:r>
              <a:rPr lang="en-US" sz="1050" dirty="0"/>
              <a:t>);</a:t>
            </a:r>
          </a:p>
          <a:p>
            <a:r>
              <a:rPr lang="en-US" sz="1050" dirty="0"/>
              <a:t>  </a:t>
            </a:r>
            <a:r>
              <a:rPr lang="en-US" sz="1050" dirty="0" err="1"/>
              <a:t>lcdMain.print</a:t>
            </a:r>
            <a:r>
              <a:rPr lang="en-US" sz="1050" dirty="0"/>
              <a:t>("     ");</a:t>
            </a:r>
          </a:p>
          <a:p>
            <a:br>
              <a:rPr lang="en-US" sz="1050" dirty="0"/>
            </a:br>
            <a:endParaRPr lang="en-US" sz="1050" dirty="0"/>
          </a:p>
          <a:p>
            <a:r>
              <a:rPr lang="en-US" sz="1050" dirty="0"/>
              <a:t>  </a:t>
            </a:r>
            <a:r>
              <a:rPr lang="en-US" sz="1050" dirty="0" err="1"/>
              <a:t>lcdMain.setCursor</a:t>
            </a:r>
            <a:r>
              <a:rPr lang="en-US" sz="1050" dirty="0"/>
              <a:t>(0, 3);</a:t>
            </a:r>
          </a:p>
          <a:p>
            <a:r>
              <a:rPr lang="en-US" sz="1050" dirty="0"/>
              <a:t>  </a:t>
            </a:r>
            <a:r>
              <a:rPr lang="en-US" sz="1050" dirty="0" err="1"/>
              <a:t>lcdMain.print</a:t>
            </a:r>
            <a:r>
              <a:rPr lang="en-US" sz="1050" dirty="0"/>
              <a:t>("Fan: ");</a:t>
            </a:r>
          </a:p>
          <a:p>
            <a:r>
              <a:rPr lang="en-US" sz="1050" dirty="0"/>
              <a:t>  </a:t>
            </a:r>
            <a:r>
              <a:rPr lang="en-US" sz="1050" dirty="0" err="1"/>
              <a:t>lcdMain.print</a:t>
            </a:r>
            <a:r>
              <a:rPr lang="en-US" sz="1050" dirty="0"/>
              <a:t>(</a:t>
            </a:r>
            <a:r>
              <a:rPr lang="en-US" sz="1050" dirty="0" err="1"/>
              <a:t>fanState</a:t>
            </a:r>
            <a:r>
              <a:rPr lang="en-US" sz="1050" dirty="0"/>
              <a:t>);</a:t>
            </a:r>
          </a:p>
          <a:p>
            <a:r>
              <a:rPr lang="en-US" sz="1050" dirty="0"/>
              <a:t>  </a:t>
            </a:r>
            <a:r>
              <a:rPr lang="en-US" sz="1050" dirty="0" err="1"/>
              <a:t>lcdMain.print</a:t>
            </a:r>
            <a:r>
              <a:rPr lang="en-US" sz="1050" dirty="0"/>
              <a:t>("     ");</a:t>
            </a:r>
          </a:p>
          <a:p>
            <a:br>
              <a:rPr lang="en-US" sz="1050" dirty="0"/>
            </a:br>
            <a:endParaRPr lang="en-US" sz="1050" dirty="0"/>
          </a:p>
          <a:p>
            <a:r>
              <a:rPr lang="en-US" sz="1050" dirty="0"/>
              <a:t>  </a:t>
            </a:r>
            <a:r>
              <a:rPr lang="en-US" sz="1050" dirty="0" err="1"/>
              <a:t>lcdLimit.setCursor</a:t>
            </a:r>
            <a:r>
              <a:rPr lang="en-US" sz="1050" dirty="0"/>
              <a:t>(0, 0);</a:t>
            </a:r>
          </a:p>
          <a:p>
            <a:r>
              <a:rPr lang="en-US" sz="1050" dirty="0"/>
              <a:t>  </a:t>
            </a:r>
            <a:r>
              <a:rPr lang="en-US" sz="1050" dirty="0" err="1"/>
              <a:t>lcdLimit.print</a:t>
            </a:r>
            <a:r>
              <a:rPr lang="en-US" sz="1050" dirty="0"/>
              <a:t>("Temp Lim ");</a:t>
            </a:r>
          </a:p>
          <a:p>
            <a:r>
              <a:rPr lang="en-US" sz="1050" dirty="0"/>
              <a:t>  </a:t>
            </a:r>
            <a:r>
              <a:rPr lang="en-US" sz="1050" dirty="0" err="1"/>
              <a:t>lcdLimit.print</a:t>
            </a:r>
            <a:r>
              <a:rPr lang="en-US" sz="1050" dirty="0"/>
              <a:t>(</a:t>
            </a:r>
            <a:r>
              <a:rPr lang="en-US" sz="1050" dirty="0" err="1"/>
              <a:t>temperature_limit</a:t>
            </a:r>
            <a:r>
              <a:rPr lang="en-US" sz="1050" dirty="0"/>
              <a:t>);</a:t>
            </a:r>
          </a:p>
          <a:p>
            <a:r>
              <a:rPr lang="en-US" sz="1050" dirty="0"/>
              <a:t>  </a:t>
            </a:r>
            <a:r>
              <a:rPr lang="en-US" sz="1050" dirty="0" err="1"/>
              <a:t>lcdLimit.print</a:t>
            </a:r>
            <a:r>
              <a:rPr lang="en-US" sz="1050" dirty="0"/>
              <a:t>(" C   ");</a:t>
            </a:r>
          </a:p>
          <a:p>
            <a:br>
              <a:rPr lang="en-US" sz="1050" dirty="0"/>
            </a:br>
            <a:endParaRPr lang="en-US" sz="1050" dirty="0"/>
          </a:p>
          <a:p>
            <a:r>
              <a:rPr lang="en-US" sz="1050" dirty="0"/>
              <a:t>  </a:t>
            </a:r>
            <a:r>
              <a:rPr lang="en-US" sz="1050" dirty="0" err="1"/>
              <a:t>lcdLimit.setCursor</a:t>
            </a:r>
            <a:r>
              <a:rPr lang="en-US" sz="1050" dirty="0"/>
              <a:t>(0, 1);</a:t>
            </a:r>
          </a:p>
          <a:p>
            <a:r>
              <a:rPr lang="en-US" sz="1050" dirty="0"/>
              <a:t>  </a:t>
            </a:r>
            <a:r>
              <a:rPr lang="en-US" sz="1050" dirty="0" err="1"/>
              <a:t>lcdLimit.print</a:t>
            </a:r>
            <a:r>
              <a:rPr lang="en-US" sz="1050" dirty="0"/>
              <a:t>("Hum Lim ");</a:t>
            </a:r>
          </a:p>
          <a:p>
            <a:r>
              <a:rPr lang="en-US" sz="1050" dirty="0"/>
              <a:t>  </a:t>
            </a:r>
            <a:r>
              <a:rPr lang="en-US" sz="1050" dirty="0" err="1"/>
              <a:t>lcdLimit.print</a:t>
            </a:r>
            <a:r>
              <a:rPr lang="en-US" sz="1050" dirty="0"/>
              <a:t>(</a:t>
            </a:r>
            <a:r>
              <a:rPr lang="en-US" sz="1050" dirty="0" err="1"/>
              <a:t>humidity_limit</a:t>
            </a:r>
            <a:r>
              <a:rPr lang="en-US" sz="1050" dirty="0"/>
              <a:t>);</a:t>
            </a:r>
          </a:p>
          <a:p>
            <a:r>
              <a:rPr lang="en-US" sz="1050" dirty="0"/>
              <a:t>  </a:t>
            </a:r>
            <a:r>
              <a:rPr lang="en-US" sz="1050" dirty="0" err="1"/>
              <a:t>lcdLimit.print</a:t>
            </a:r>
            <a:r>
              <a:rPr lang="en-US" sz="1050" dirty="0"/>
              <a:t>(" %   ");</a:t>
            </a:r>
          </a:p>
          <a:p>
            <a:br>
              <a:rPr lang="en-US" sz="1050" dirty="0"/>
            </a:br>
            <a:endParaRPr lang="en-US" sz="1050" dirty="0"/>
          </a:p>
          <a:p>
            <a:r>
              <a:rPr lang="en-US" sz="1050" dirty="0"/>
              <a:t>  </a:t>
            </a:r>
            <a:r>
              <a:rPr lang="en-US" sz="1050" dirty="0" err="1"/>
              <a:t>Serial.println</a:t>
            </a:r>
            <a:r>
              <a:rPr lang="en-US" sz="1050" dirty="0"/>
              <a:t>(payload);</a:t>
            </a:r>
          </a:p>
          <a:p>
            <a:br>
              <a:rPr lang="en-US" sz="1050" dirty="0"/>
            </a:br>
            <a:endParaRPr lang="en-US" sz="1050" dirty="0"/>
          </a:p>
          <a:p>
            <a:r>
              <a:rPr lang="en-US" sz="1050" dirty="0"/>
              <a:t>  delay(2000);</a:t>
            </a:r>
          </a:p>
          <a:p>
            <a:r>
              <a:rPr lang="en-US" sz="1050" dirty="0"/>
              <a:t>}</a:t>
            </a:r>
          </a:p>
        </p:txBody>
      </p:sp>
    </p:spTree>
    <p:extLst>
      <p:ext uri="{BB962C8B-B14F-4D97-AF65-F5344CB8AC3E}">
        <p14:creationId xmlns:p14="http://schemas.microsoft.com/office/powerpoint/2010/main" val="3207880874"/>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2398-A408-D22F-C9A5-A51CB6C5B7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700369-99D6-C98F-A211-9E08945D18CC}"/>
              </a:ext>
            </a:extLst>
          </p:cNvPr>
          <p:cNvSpPr txBox="1"/>
          <p:nvPr/>
        </p:nvSpPr>
        <p:spPr>
          <a:xfrm>
            <a:off x="990600" y="239931"/>
            <a:ext cx="10231120" cy="646331"/>
          </a:xfrm>
          <a:prstGeom prst="rect">
            <a:avLst/>
          </a:prstGeom>
          <a:noFill/>
        </p:spPr>
        <p:txBody>
          <a:bodyPr wrap="square" rtlCol="0">
            <a:spAutoFit/>
          </a:bodyPr>
          <a:lstStyle/>
          <a:p>
            <a:pPr algn="ctr"/>
            <a:r>
              <a:rPr lang="en-US" sz="3600" b="1" dirty="0">
                <a:latin typeface="+mj-lt"/>
              </a:rPr>
              <a:t>11. Simulation Output:</a:t>
            </a:r>
          </a:p>
        </p:txBody>
      </p:sp>
      <p:sp>
        <p:nvSpPr>
          <p:cNvPr id="6" name="TextBox 5">
            <a:extLst>
              <a:ext uri="{FF2B5EF4-FFF2-40B4-BE49-F238E27FC236}">
                <a16:creationId xmlns:a16="http://schemas.microsoft.com/office/drawing/2014/main" id="{427A4B41-DC76-73A1-6983-E3399F26DBAE}"/>
              </a:ext>
            </a:extLst>
          </p:cNvPr>
          <p:cNvSpPr txBox="1"/>
          <p:nvPr/>
        </p:nvSpPr>
        <p:spPr>
          <a:xfrm>
            <a:off x="203200" y="1999102"/>
            <a:ext cx="4663090" cy="3108543"/>
          </a:xfrm>
          <a:prstGeom prst="rect">
            <a:avLst/>
          </a:prstGeom>
          <a:noFill/>
        </p:spPr>
        <p:txBody>
          <a:bodyPr wrap="square">
            <a:spAutoFit/>
          </a:bodyPr>
          <a:lstStyle/>
          <a:p>
            <a:r>
              <a:rPr lang="en-US" sz="2800" dirty="0">
                <a:effectLst/>
                <a:latin typeface="Times New Roman" panose="02020603050405020304" pitchFamily="18" charset="0"/>
                <a:ea typeface="Aptos" panose="020B0004020202020204" pitchFamily="34" charset="0"/>
              </a:rPr>
              <a:t>a.) When the temperature or humidity thresholds are not crossed:</a:t>
            </a:r>
          </a:p>
          <a:p>
            <a:br>
              <a:rPr lang="en-US" sz="2800" dirty="0">
                <a:effectLst/>
                <a:latin typeface="Times New Roman" panose="02020603050405020304" pitchFamily="18" charset="0"/>
                <a:ea typeface="Aptos" panose="020B0004020202020204" pitchFamily="34" charset="0"/>
              </a:rPr>
            </a:br>
            <a:r>
              <a:rPr lang="en-US" sz="2800" dirty="0">
                <a:effectLst/>
                <a:latin typeface="Times New Roman" panose="02020603050405020304" pitchFamily="18" charset="0"/>
                <a:ea typeface="Aptos" panose="020B0004020202020204" pitchFamily="34" charset="0"/>
              </a:rPr>
              <a:t>The fan (pink LED) is off, and the window (servo motor) is closed.</a:t>
            </a:r>
            <a:endParaRPr lang="en-US" sz="2800" dirty="0"/>
          </a:p>
        </p:txBody>
      </p:sp>
      <p:pic>
        <p:nvPicPr>
          <p:cNvPr id="3" name="Picture 2">
            <a:extLst>
              <a:ext uri="{FF2B5EF4-FFF2-40B4-BE49-F238E27FC236}">
                <a16:creationId xmlns:a16="http://schemas.microsoft.com/office/drawing/2014/main" id="{87E3B625-96B9-C54A-63B6-160DDCE1D29B}"/>
              </a:ext>
            </a:extLst>
          </p:cNvPr>
          <p:cNvPicPr>
            <a:picLocks noChangeAspect="1"/>
          </p:cNvPicPr>
          <p:nvPr/>
        </p:nvPicPr>
        <p:blipFill>
          <a:blip r:embed="rId2"/>
          <a:stretch>
            <a:fillRect/>
          </a:stretch>
        </p:blipFill>
        <p:spPr>
          <a:xfrm>
            <a:off x="4776395" y="1085572"/>
            <a:ext cx="7415605" cy="5244451"/>
          </a:xfrm>
          <a:prstGeom prst="rect">
            <a:avLst/>
          </a:prstGeom>
        </p:spPr>
      </p:pic>
    </p:spTree>
    <p:extLst>
      <p:ext uri="{BB962C8B-B14F-4D97-AF65-F5344CB8AC3E}">
        <p14:creationId xmlns:p14="http://schemas.microsoft.com/office/powerpoint/2010/main" val="38673765"/>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CC03D-A276-530B-B9D0-1407B484AD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669151-F914-895D-2C5C-CEB2523D9952}"/>
              </a:ext>
            </a:extLst>
          </p:cNvPr>
          <p:cNvSpPr txBox="1"/>
          <p:nvPr/>
        </p:nvSpPr>
        <p:spPr>
          <a:xfrm>
            <a:off x="990600" y="239931"/>
            <a:ext cx="10231120" cy="646331"/>
          </a:xfrm>
          <a:prstGeom prst="rect">
            <a:avLst/>
          </a:prstGeom>
          <a:noFill/>
        </p:spPr>
        <p:txBody>
          <a:bodyPr wrap="square" rtlCol="0">
            <a:spAutoFit/>
          </a:bodyPr>
          <a:lstStyle/>
          <a:p>
            <a:pPr algn="ctr"/>
            <a:r>
              <a:rPr lang="en-US" sz="3600" b="1" dirty="0">
                <a:latin typeface="+mj-lt"/>
              </a:rPr>
              <a:t>11. Simulation Output:</a:t>
            </a:r>
          </a:p>
        </p:txBody>
      </p:sp>
      <p:sp>
        <p:nvSpPr>
          <p:cNvPr id="5" name="TextBox 4">
            <a:extLst>
              <a:ext uri="{FF2B5EF4-FFF2-40B4-BE49-F238E27FC236}">
                <a16:creationId xmlns:a16="http://schemas.microsoft.com/office/drawing/2014/main" id="{AE012758-9B69-B1FB-ED46-18654576DBE9}"/>
              </a:ext>
            </a:extLst>
          </p:cNvPr>
          <p:cNvSpPr txBox="1"/>
          <p:nvPr/>
        </p:nvSpPr>
        <p:spPr>
          <a:xfrm>
            <a:off x="135467" y="1575725"/>
            <a:ext cx="4436533" cy="3140219"/>
          </a:xfrm>
          <a:prstGeom prst="rect">
            <a:avLst/>
          </a:prstGeom>
          <a:noFill/>
        </p:spPr>
        <p:txBody>
          <a:bodyPr wrap="square">
            <a:spAutoFit/>
          </a:bodyPr>
          <a:lstStyle/>
          <a:p>
            <a:pPr marL="0" marR="0">
              <a:lnSpc>
                <a:spcPct val="115000"/>
              </a:lnSpc>
              <a:spcAft>
                <a:spcPts val="800"/>
              </a:spcAft>
              <a:buNone/>
            </a:pP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b.) When the temperature and humidity thresholds are crossed:</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The fan (pink LED) is turned on, and the window (servo motor) is opened.</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9BA5901C-7DB7-E856-24AB-EF33BD5F1D17}"/>
              </a:ext>
            </a:extLst>
          </p:cNvPr>
          <p:cNvPicPr>
            <a:picLocks noChangeAspect="1"/>
          </p:cNvPicPr>
          <p:nvPr/>
        </p:nvPicPr>
        <p:blipFill>
          <a:blip r:embed="rId2"/>
          <a:stretch>
            <a:fillRect/>
          </a:stretch>
        </p:blipFill>
        <p:spPr>
          <a:xfrm>
            <a:off x="4623812" y="1108037"/>
            <a:ext cx="7568188" cy="5386481"/>
          </a:xfrm>
          <a:prstGeom prst="rect">
            <a:avLst/>
          </a:prstGeom>
        </p:spPr>
      </p:pic>
    </p:spTree>
    <p:extLst>
      <p:ext uri="{BB962C8B-B14F-4D97-AF65-F5344CB8AC3E}">
        <p14:creationId xmlns:p14="http://schemas.microsoft.com/office/powerpoint/2010/main" val="1592877519"/>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9FBC6-D59E-12C1-F783-F13888C6EA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711374-0699-975E-0CC9-4376F221B1AA}"/>
              </a:ext>
            </a:extLst>
          </p:cNvPr>
          <p:cNvSpPr txBox="1"/>
          <p:nvPr/>
        </p:nvSpPr>
        <p:spPr>
          <a:xfrm>
            <a:off x="-352651" y="1145134"/>
            <a:ext cx="5000297" cy="1200329"/>
          </a:xfrm>
          <a:prstGeom prst="rect">
            <a:avLst/>
          </a:prstGeom>
          <a:noFill/>
        </p:spPr>
        <p:txBody>
          <a:bodyPr wrap="square" rtlCol="0">
            <a:spAutoFit/>
          </a:bodyPr>
          <a:lstStyle/>
          <a:p>
            <a:pPr algn="ctr"/>
            <a:r>
              <a:rPr lang="en-US" sz="3600" b="1" dirty="0">
                <a:latin typeface="+mj-lt"/>
              </a:rPr>
              <a:t>11. Simulation Output:</a:t>
            </a:r>
          </a:p>
        </p:txBody>
      </p:sp>
      <p:pic>
        <p:nvPicPr>
          <p:cNvPr id="8" name="Picture 7">
            <a:extLst>
              <a:ext uri="{FF2B5EF4-FFF2-40B4-BE49-F238E27FC236}">
                <a16:creationId xmlns:a16="http://schemas.microsoft.com/office/drawing/2014/main" id="{BD98727C-1E99-B59E-F61E-915B628D6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7544" y="106162"/>
            <a:ext cx="3017228" cy="6751839"/>
          </a:xfrm>
          <a:prstGeom prst="rect">
            <a:avLst/>
          </a:prstGeom>
        </p:spPr>
      </p:pic>
      <p:pic>
        <p:nvPicPr>
          <p:cNvPr id="10" name="Picture 9">
            <a:extLst>
              <a:ext uri="{FF2B5EF4-FFF2-40B4-BE49-F238E27FC236}">
                <a16:creationId xmlns:a16="http://schemas.microsoft.com/office/drawing/2014/main" id="{70147F82-B8D4-C3DF-7DA5-8A4C371DF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4772" y="106162"/>
            <a:ext cx="3017228" cy="6751838"/>
          </a:xfrm>
          <a:prstGeom prst="rect">
            <a:avLst/>
          </a:prstGeom>
        </p:spPr>
      </p:pic>
      <p:pic>
        <p:nvPicPr>
          <p:cNvPr id="6" name="Picture 5">
            <a:extLst>
              <a:ext uri="{FF2B5EF4-FFF2-40B4-BE49-F238E27FC236}">
                <a16:creationId xmlns:a16="http://schemas.microsoft.com/office/drawing/2014/main" id="{A785C997-4648-182C-7358-FB1266E6F680}"/>
              </a:ext>
            </a:extLst>
          </p:cNvPr>
          <p:cNvPicPr>
            <a:picLocks noChangeAspect="1"/>
          </p:cNvPicPr>
          <p:nvPr/>
        </p:nvPicPr>
        <p:blipFill>
          <a:blip r:embed="rId4"/>
          <a:stretch>
            <a:fillRect/>
          </a:stretch>
        </p:blipFill>
        <p:spPr>
          <a:xfrm>
            <a:off x="0" y="2943225"/>
            <a:ext cx="6170482" cy="3914776"/>
          </a:xfrm>
          <a:prstGeom prst="rect">
            <a:avLst/>
          </a:prstGeom>
        </p:spPr>
      </p:pic>
    </p:spTree>
    <p:extLst>
      <p:ext uri="{BB962C8B-B14F-4D97-AF65-F5344CB8AC3E}">
        <p14:creationId xmlns:p14="http://schemas.microsoft.com/office/powerpoint/2010/main" val="1846779105"/>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2CDC-DBD6-2CBD-6A11-0E170F7E71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D59363-73C8-30F1-2380-7EE03666A244}"/>
              </a:ext>
            </a:extLst>
          </p:cNvPr>
          <p:cNvSpPr txBox="1"/>
          <p:nvPr/>
        </p:nvSpPr>
        <p:spPr>
          <a:xfrm>
            <a:off x="980440" y="534220"/>
            <a:ext cx="10231120" cy="646331"/>
          </a:xfrm>
          <a:prstGeom prst="rect">
            <a:avLst/>
          </a:prstGeom>
          <a:noFill/>
        </p:spPr>
        <p:txBody>
          <a:bodyPr wrap="square" rtlCol="0">
            <a:spAutoFit/>
          </a:bodyPr>
          <a:lstStyle/>
          <a:p>
            <a:pPr algn="ctr"/>
            <a:r>
              <a:rPr lang="en-US" sz="3600" b="1" dirty="0">
                <a:latin typeface="+mj-lt"/>
              </a:rPr>
              <a:t>12. </a:t>
            </a:r>
            <a:r>
              <a:rPr lang="en-US" sz="3600" b="1" dirty="0" err="1">
                <a:latin typeface="+mj-lt"/>
              </a:rPr>
              <a:t>Wokwi</a:t>
            </a:r>
            <a:r>
              <a:rPr lang="en-US" sz="3600" b="1" dirty="0">
                <a:latin typeface="+mj-lt"/>
              </a:rPr>
              <a:t> Project Link:</a:t>
            </a:r>
          </a:p>
        </p:txBody>
      </p:sp>
      <p:sp>
        <p:nvSpPr>
          <p:cNvPr id="5" name="TextBox 4">
            <a:extLst>
              <a:ext uri="{FF2B5EF4-FFF2-40B4-BE49-F238E27FC236}">
                <a16:creationId xmlns:a16="http://schemas.microsoft.com/office/drawing/2014/main" id="{8D09B129-7CC5-4933-096F-29CCC4229DF0}"/>
              </a:ext>
            </a:extLst>
          </p:cNvPr>
          <p:cNvSpPr txBox="1"/>
          <p:nvPr/>
        </p:nvSpPr>
        <p:spPr>
          <a:xfrm>
            <a:off x="1423859" y="2779174"/>
            <a:ext cx="9344282" cy="1299651"/>
          </a:xfrm>
          <a:prstGeom prst="rect">
            <a:avLst/>
          </a:prstGeom>
          <a:noFill/>
        </p:spPr>
        <p:txBody>
          <a:bodyPr wrap="square">
            <a:spAutoFit/>
          </a:bodyPr>
          <a:lstStyle/>
          <a:p>
            <a:pPr>
              <a:lnSpc>
                <a:spcPct val="115000"/>
              </a:lnSpc>
              <a:spcAft>
                <a:spcPts val="800"/>
              </a:spcAft>
            </a:pPr>
            <a:r>
              <a:rPr lang="en-US" sz="3200" kern="100" dirty="0">
                <a:latin typeface="Aptos" panose="020B0004020202020204" pitchFamily="34" charset="0"/>
                <a:ea typeface="Aptos" panose="020B0004020202020204" pitchFamily="34" charset="0"/>
                <a:cs typeface="Times New Roman" panose="02020603050405020304" pitchFamily="18" charset="0"/>
                <a:hlinkClick r:id="rId2"/>
              </a:rPr>
              <a:t>https://wokwi.com/projects/460081078946873345</a:t>
            </a:r>
            <a:endParaRPr lang="en-US" sz="3200"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78186510"/>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B342-5FF4-2091-57FF-0352D76A0A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C471DD-DFCC-DF1F-1742-CD0B515505E5}"/>
              </a:ext>
            </a:extLst>
          </p:cNvPr>
          <p:cNvSpPr txBox="1"/>
          <p:nvPr/>
        </p:nvSpPr>
        <p:spPr>
          <a:xfrm>
            <a:off x="990600" y="354835"/>
            <a:ext cx="10231120" cy="646331"/>
          </a:xfrm>
          <a:prstGeom prst="rect">
            <a:avLst/>
          </a:prstGeom>
          <a:noFill/>
        </p:spPr>
        <p:txBody>
          <a:bodyPr wrap="square" rtlCol="0">
            <a:spAutoFit/>
          </a:bodyPr>
          <a:lstStyle/>
          <a:p>
            <a:pPr algn="ctr"/>
            <a:r>
              <a:rPr lang="en-US" sz="3600" b="1" dirty="0">
                <a:latin typeface="+mj-lt"/>
              </a:rPr>
              <a:t>13. Conclusion:</a:t>
            </a:r>
          </a:p>
        </p:txBody>
      </p:sp>
      <p:sp>
        <p:nvSpPr>
          <p:cNvPr id="3" name="TextBox 2">
            <a:extLst>
              <a:ext uri="{FF2B5EF4-FFF2-40B4-BE49-F238E27FC236}">
                <a16:creationId xmlns:a16="http://schemas.microsoft.com/office/drawing/2014/main" id="{3EC752C2-BD70-FB9C-0CD8-E7C757B38DC1}"/>
              </a:ext>
            </a:extLst>
          </p:cNvPr>
          <p:cNvSpPr txBox="1"/>
          <p:nvPr/>
        </p:nvSpPr>
        <p:spPr>
          <a:xfrm>
            <a:off x="542334" y="1001166"/>
            <a:ext cx="11358880" cy="5770811"/>
          </a:xfrm>
          <a:prstGeom prst="rect">
            <a:avLst/>
          </a:prstGeom>
          <a:noFill/>
        </p:spPr>
        <p:txBody>
          <a:bodyPr wrap="square" rtlCol="0">
            <a:spAutoFit/>
          </a:bodyPr>
          <a:lstStyle/>
          <a:p>
            <a:pPr>
              <a:lnSpc>
                <a:spcPct val="150000"/>
              </a:lnSpc>
            </a:pPr>
            <a:r>
              <a:rPr lang="en-US" u="sng" dirty="0"/>
              <a:t>Observations:</a:t>
            </a:r>
          </a:p>
          <a:p>
            <a:pPr marL="285750" indent="-285750">
              <a:lnSpc>
                <a:spcPct val="150000"/>
              </a:lnSpc>
              <a:buFont typeface="Arial" panose="020B0604020202020204" pitchFamily="34" charset="0"/>
              <a:buChar char="•"/>
            </a:pPr>
            <a:r>
              <a:rPr lang="en-US" dirty="0"/>
              <a:t>The system successfully monitors temperature and humidity using the DHT22 sensor.</a:t>
            </a:r>
          </a:p>
          <a:p>
            <a:pPr marL="285750" indent="-285750">
              <a:lnSpc>
                <a:spcPct val="150000"/>
              </a:lnSpc>
              <a:buFont typeface="Arial" panose="020B0604020202020204" pitchFamily="34" charset="0"/>
              <a:buChar char="•"/>
            </a:pPr>
            <a:r>
              <a:rPr lang="en-US" dirty="0"/>
              <a:t>Automatic control of ventilation (servo window) and fan (LED) based on threshold limits works reliably.</a:t>
            </a:r>
          </a:p>
          <a:p>
            <a:pPr marL="285750" indent="-285750">
              <a:lnSpc>
                <a:spcPct val="150000"/>
              </a:lnSpc>
              <a:buFont typeface="Arial" panose="020B0604020202020204" pitchFamily="34" charset="0"/>
              <a:buChar char="•"/>
            </a:pPr>
            <a:r>
              <a:rPr lang="en-US" dirty="0"/>
              <a:t>Limits can be remotely updated via MQTT, enabling real-time control from a mobile app.</a:t>
            </a:r>
          </a:p>
          <a:p>
            <a:pPr marL="285750" indent="-285750">
              <a:lnSpc>
                <a:spcPct val="150000"/>
              </a:lnSpc>
              <a:buFont typeface="Arial" panose="020B0604020202020204" pitchFamily="34" charset="0"/>
              <a:buChar char="•"/>
            </a:pPr>
            <a:r>
              <a:rPr lang="en-US" dirty="0"/>
              <a:t>Live data publishing to the MQTT broker allows continuous monitoring from the app.</a:t>
            </a:r>
          </a:p>
          <a:p>
            <a:pPr marL="285750" indent="-285750">
              <a:lnSpc>
                <a:spcPct val="150000"/>
              </a:lnSpc>
              <a:buFont typeface="Arial" panose="020B0604020202020204" pitchFamily="34" charset="0"/>
              <a:buChar char="•"/>
            </a:pPr>
            <a:r>
              <a:rPr lang="en-US" dirty="0"/>
              <a:t>Dual LCDs display real-time sensor data and user-defined limits clearly.</a:t>
            </a:r>
          </a:p>
          <a:p>
            <a:pPr marL="285750" indent="-285750">
              <a:lnSpc>
                <a:spcPct val="150000"/>
              </a:lnSpc>
              <a:buFont typeface="Arial" panose="020B0604020202020204" pitchFamily="34" charset="0"/>
              <a:buChar char="•"/>
            </a:pPr>
            <a:r>
              <a:rPr lang="en-US" dirty="0"/>
              <a:t>Data is stored in MongoDB every 10 minutes.</a:t>
            </a:r>
          </a:p>
          <a:p>
            <a:pPr>
              <a:lnSpc>
                <a:spcPct val="150000"/>
              </a:lnSpc>
            </a:pPr>
            <a:r>
              <a:rPr lang="en-US" u="sng" dirty="0"/>
              <a:t>Limitations:</a:t>
            </a:r>
          </a:p>
          <a:p>
            <a:pPr marL="285750" indent="-285750">
              <a:lnSpc>
                <a:spcPct val="150000"/>
              </a:lnSpc>
              <a:buFont typeface="Arial" panose="020B0604020202020204" pitchFamily="34" charset="0"/>
              <a:buChar char="•"/>
            </a:pPr>
            <a:r>
              <a:rPr lang="en-US" dirty="0"/>
              <a:t>Uses a single DHT22 sensor, which may not reflect large greenhouse conditions.</a:t>
            </a:r>
          </a:p>
          <a:p>
            <a:pPr marL="285750" indent="-285750">
              <a:lnSpc>
                <a:spcPct val="150000"/>
              </a:lnSpc>
              <a:buFont typeface="Arial" panose="020B0604020202020204" pitchFamily="34" charset="0"/>
              <a:buChar char="•"/>
            </a:pPr>
            <a:r>
              <a:rPr lang="en-US" dirty="0"/>
              <a:t>Fan is simulated using an LED instead of a real actuator.</a:t>
            </a:r>
          </a:p>
          <a:p>
            <a:pPr marL="285750" indent="-285750">
              <a:lnSpc>
                <a:spcPct val="150000"/>
              </a:lnSpc>
              <a:buFont typeface="Arial" panose="020B0604020202020204" pitchFamily="34" charset="0"/>
              <a:buChar char="•"/>
            </a:pPr>
            <a:r>
              <a:rPr lang="en-US" dirty="0"/>
              <a:t>No alert/notification system when thresholds are exceeded.</a:t>
            </a:r>
          </a:p>
          <a:p>
            <a:pPr marL="285750" indent="-285750">
              <a:lnSpc>
                <a:spcPct val="150000"/>
              </a:lnSpc>
              <a:buFont typeface="Arial" panose="020B0604020202020204" pitchFamily="34" charset="0"/>
              <a:buChar char="•"/>
            </a:pPr>
            <a:r>
              <a:rPr lang="en-US" dirty="0"/>
              <a:t>Basic control logic (no adaptive or intelligent decision-making).</a:t>
            </a:r>
          </a:p>
          <a:p>
            <a:endParaRPr lang="en-US" dirty="0"/>
          </a:p>
        </p:txBody>
      </p:sp>
    </p:spTree>
    <p:extLst>
      <p:ext uri="{BB962C8B-B14F-4D97-AF65-F5344CB8AC3E}">
        <p14:creationId xmlns:p14="http://schemas.microsoft.com/office/powerpoint/2010/main" val="1996057611"/>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6A639-5ACB-72AA-84A3-65B794FFB9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7C3A31-F4B3-0DB2-E4F2-9DCCB6AD34F6}"/>
              </a:ext>
            </a:extLst>
          </p:cNvPr>
          <p:cNvSpPr txBox="1"/>
          <p:nvPr/>
        </p:nvSpPr>
        <p:spPr>
          <a:xfrm>
            <a:off x="980440" y="302284"/>
            <a:ext cx="10231120" cy="646331"/>
          </a:xfrm>
          <a:prstGeom prst="rect">
            <a:avLst/>
          </a:prstGeom>
          <a:noFill/>
        </p:spPr>
        <p:txBody>
          <a:bodyPr wrap="square" rtlCol="0">
            <a:spAutoFit/>
          </a:bodyPr>
          <a:lstStyle/>
          <a:p>
            <a:pPr algn="ctr"/>
            <a:r>
              <a:rPr lang="en-US" sz="3600" b="1" dirty="0">
                <a:latin typeface="+mj-lt"/>
              </a:rPr>
              <a:t>13. Conclusion:</a:t>
            </a:r>
          </a:p>
        </p:txBody>
      </p:sp>
      <p:sp>
        <p:nvSpPr>
          <p:cNvPr id="3" name="TextBox 2">
            <a:extLst>
              <a:ext uri="{FF2B5EF4-FFF2-40B4-BE49-F238E27FC236}">
                <a16:creationId xmlns:a16="http://schemas.microsoft.com/office/drawing/2014/main" id="{AC23A493-EBAD-E3B1-13E9-86C1D6D01C4C}"/>
              </a:ext>
            </a:extLst>
          </p:cNvPr>
          <p:cNvSpPr txBox="1"/>
          <p:nvPr/>
        </p:nvSpPr>
        <p:spPr>
          <a:xfrm>
            <a:off x="416560" y="1403831"/>
            <a:ext cx="11358880" cy="3797193"/>
          </a:xfrm>
          <a:prstGeom prst="rect">
            <a:avLst/>
          </a:prstGeom>
          <a:noFill/>
        </p:spPr>
        <p:txBody>
          <a:bodyPr wrap="square" rtlCol="0">
            <a:spAutoFit/>
          </a:bodyPr>
          <a:lstStyle/>
          <a:p>
            <a:pPr>
              <a:lnSpc>
                <a:spcPct val="150000"/>
              </a:lnSpc>
            </a:pPr>
            <a:r>
              <a:rPr lang="en-US" u="sng" dirty="0"/>
              <a:t>Future Improvements:</a:t>
            </a:r>
          </a:p>
          <a:p>
            <a:pPr marL="285750" indent="-285750">
              <a:lnSpc>
                <a:spcPct val="150000"/>
              </a:lnSpc>
              <a:buFont typeface="Arial" panose="020B0604020202020204" pitchFamily="34" charset="0"/>
              <a:buChar char="•"/>
            </a:pPr>
            <a:r>
              <a:rPr lang="en-US" dirty="0"/>
              <a:t>Integrate more sensors:</a:t>
            </a:r>
          </a:p>
          <a:p>
            <a:pPr marL="857250" lvl="1" indent="-400050">
              <a:lnSpc>
                <a:spcPct val="150000"/>
              </a:lnSpc>
              <a:buFont typeface="+mj-lt"/>
              <a:buAutoNum type="romanLcPeriod"/>
            </a:pPr>
            <a:r>
              <a:rPr lang="en-US" dirty="0"/>
              <a:t>Soil moisture</a:t>
            </a:r>
          </a:p>
          <a:p>
            <a:pPr marL="857250" lvl="1" indent="-400050">
              <a:lnSpc>
                <a:spcPct val="150000"/>
              </a:lnSpc>
              <a:buFont typeface="+mj-lt"/>
              <a:buAutoNum type="romanLcPeriod"/>
            </a:pPr>
            <a:r>
              <a:rPr lang="en-US" dirty="0"/>
              <a:t>Light intensity</a:t>
            </a:r>
          </a:p>
          <a:p>
            <a:pPr marL="857250" lvl="1" indent="-400050">
              <a:lnSpc>
                <a:spcPct val="150000"/>
              </a:lnSpc>
              <a:buFont typeface="+mj-lt"/>
              <a:buAutoNum type="romanLcPeriod"/>
            </a:pPr>
            <a:r>
              <a:rPr lang="en-US" dirty="0"/>
              <a:t>CO₂ levels</a:t>
            </a:r>
          </a:p>
          <a:p>
            <a:pPr marL="285750" indent="-285750">
              <a:lnSpc>
                <a:spcPct val="150000"/>
              </a:lnSpc>
              <a:buFont typeface="Arial" panose="020B0604020202020204" pitchFamily="34" charset="0"/>
              <a:buChar char="•"/>
            </a:pPr>
            <a:r>
              <a:rPr lang="en-US" dirty="0"/>
              <a:t>Replace LED with a real fan control circuit (relay).</a:t>
            </a:r>
          </a:p>
          <a:p>
            <a:pPr marL="285750" indent="-285750">
              <a:lnSpc>
                <a:spcPct val="150000"/>
              </a:lnSpc>
              <a:buFont typeface="Arial" panose="020B0604020202020204" pitchFamily="34" charset="0"/>
              <a:buChar char="•"/>
            </a:pPr>
            <a:r>
              <a:rPr lang="en-US" dirty="0"/>
              <a:t>Add mobile alerts/notifications when limits are exceeded.</a:t>
            </a:r>
          </a:p>
          <a:p>
            <a:pPr marL="285750" indent="-285750">
              <a:lnSpc>
                <a:spcPct val="150000"/>
              </a:lnSpc>
              <a:buFont typeface="Arial" panose="020B0604020202020204" pitchFamily="34" charset="0"/>
              <a:buChar char="•"/>
            </a:pPr>
            <a:r>
              <a:rPr lang="en-US" dirty="0"/>
              <a:t>Introduce AI/predictive control for optimized plant growth, using historical data.</a:t>
            </a:r>
          </a:p>
          <a:p>
            <a:pPr marL="285750" indent="-285750">
              <a:lnSpc>
                <a:spcPct val="150000"/>
              </a:lnSpc>
              <a:buFont typeface="Arial" panose="020B0604020202020204" pitchFamily="34" charset="0"/>
              <a:buChar char="•"/>
            </a:pPr>
            <a:r>
              <a:rPr lang="en-US" dirty="0"/>
              <a:t>Expand to multi-zone sensing for larger greenhouse coverage.</a:t>
            </a:r>
          </a:p>
        </p:txBody>
      </p:sp>
    </p:spTree>
    <p:extLst>
      <p:ext uri="{BB962C8B-B14F-4D97-AF65-F5344CB8AC3E}">
        <p14:creationId xmlns:p14="http://schemas.microsoft.com/office/powerpoint/2010/main" val="2660736519"/>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6" name="Rectangle 15">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4078"/>
            <a:ext cx="4641096" cy="1056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DC68910C-775A-D742-3D0A-45A7F56EC418}"/>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957" r="-2" b="955"/>
          <a:stretch>
            <a:fillRect/>
          </a:stretch>
        </p:blipFill>
        <p:spPr>
          <a:xfrm>
            <a:off x="20" y="1074544"/>
            <a:ext cx="7573364" cy="5069861"/>
          </a:xfrm>
          <a:prstGeom prst="rect">
            <a:avLst/>
          </a:prstGeom>
        </p:spPr>
      </p:pic>
      <p:sp>
        <p:nvSpPr>
          <p:cNvPr id="22" name="Rectangle 21">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7" y="1095508"/>
            <a:ext cx="4606533"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34559"/>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899416"/>
      </p:ext>
    </p:extLst>
  </p:cSld>
  <p:clrMapOvr>
    <a:masterClrMapping/>
  </p:clrMapOvr>
  <p:transition spd="med">
    <p:pull/>
  </p:transition>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D88015010EEF44B55100754D3B2217" ma:contentTypeVersion="13" ma:contentTypeDescription="Create a new document." ma:contentTypeScope="" ma:versionID="a6337070572be3870b8c69bd79bee580">
  <xsd:schema xmlns:xsd="http://www.w3.org/2001/XMLSchema" xmlns:xs="http://www.w3.org/2001/XMLSchema" xmlns:p="http://schemas.microsoft.com/office/2006/metadata/properties" xmlns:ns3="67f35745-8eef-4036-9e6b-904a8c9da033" xmlns:ns4="ce415012-30cd-4ff1-a37c-d716a469dd51" targetNamespace="http://schemas.microsoft.com/office/2006/metadata/properties" ma:root="true" ma:fieldsID="8aede262afbb790147d9da3f80ce7f49" ns3:_="" ns4:_="">
    <xsd:import namespace="67f35745-8eef-4036-9e6b-904a8c9da033"/>
    <xsd:import namespace="ce415012-30cd-4ff1-a37c-d716a469dd5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f35745-8eef-4036-9e6b-904a8c9da0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e415012-30cd-4ff1-a37c-d716a469dd5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7f35745-8eef-4036-9e6b-904a8c9da03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AAC4F5-3F53-43DE-BCDE-54620F4A2A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f35745-8eef-4036-9e6b-904a8c9da033"/>
    <ds:schemaRef ds:uri="ce415012-30cd-4ff1-a37c-d716a469dd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FB86EA-081B-4EB5-AC98-A92AD8CEDC6A}">
  <ds:schemaRefs>
    <ds:schemaRef ds:uri="67f35745-8eef-4036-9e6b-904a8c9da033"/>
    <ds:schemaRef ds:uri="http://purl.org/dc/dcmitype/"/>
    <ds:schemaRef ds:uri="http://www.w3.org/XML/1998/namespace"/>
    <ds:schemaRef ds:uri="http://schemas.microsoft.com/office/infopath/2007/PartnerControls"/>
    <ds:schemaRef ds:uri="http://schemas.microsoft.com/office/2006/metadata/properties"/>
    <ds:schemaRef ds:uri="http://purl.org/dc/terms/"/>
    <ds:schemaRef ds:uri="http://schemas.microsoft.com/office/2006/documentManagement/types"/>
    <ds:schemaRef ds:uri="http://schemas.openxmlformats.org/package/2006/metadata/core-properties"/>
    <ds:schemaRef ds:uri="ce415012-30cd-4ff1-a37c-d716a469dd51"/>
    <ds:schemaRef ds:uri="http://purl.org/dc/elements/1.1/"/>
  </ds:schemaRefs>
</ds:datastoreItem>
</file>

<file path=customXml/itemProps3.xml><?xml version="1.0" encoding="utf-8"?>
<ds:datastoreItem xmlns:ds="http://schemas.openxmlformats.org/officeDocument/2006/customXml" ds:itemID="{B893AF94-DCFD-431A-845C-DD788C5DBA8E}">
  <ds:schemaRefs>
    <ds:schemaRef ds:uri="http://schemas.microsoft.com/sharepoint/v3/contenttype/forms"/>
  </ds:schemaRefs>
</ds:datastoreItem>
</file>

<file path=docMetadata/LabelInfo.xml><?xml version="1.0" encoding="utf-8"?>
<clbl:labelList xmlns:clbl="http://schemas.microsoft.com/office/2020/mipLabelMetadata">
  <clbl:label id="{29bebd42-f1ff-4c3d-9688-067e3460dc1f}" enabled="0" method="" siteId="{29bebd42-f1ff-4c3d-9688-067e3460dc1f}" removed="1"/>
</clbl:labelList>
</file>

<file path=docProps/app.xml><?xml version="1.0" encoding="utf-8"?>
<Properties xmlns="http://schemas.openxmlformats.org/officeDocument/2006/extended-properties" xmlns:vt="http://schemas.openxmlformats.org/officeDocument/2006/docPropsVTypes">
  <TotalTime>849</TotalTime>
  <Words>2955</Words>
  <Application>Microsoft Office PowerPoint</Application>
  <PresentationFormat>Widescreen</PresentationFormat>
  <Paragraphs>433</Paragraphs>
  <Slides>29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Meiryo</vt:lpstr>
      <vt:lpstr>Aptos</vt:lpstr>
      <vt:lpstr>Arial</vt:lpstr>
      <vt:lpstr>Corbel</vt:lpstr>
      <vt:lpstr>Times New Roman</vt:lpstr>
      <vt:lpstr>ShojiVTI</vt:lpstr>
      <vt:lpstr>Automatic Greenhouse Ventilation</vt:lpstr>
      <vt:lpstr>2.1 What is Wokwi?</vt:lpstr>
      <vt:lpstr>PowerPoint Presentation</vt:lpstr>
      <vt:lpstr>PowerPoint Presentation</vt:lpstr>
      <vt:lpstr>2.4 Project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KHAUSHL DEV SARAVANAN - 123124302 - MITMPL</dc:creator>
  <cp:lastModifiedBy>KHAUSHL DEV SARAVANAN - 123124302 - MITMPL</cp:lastModifiedBy>
  <cp:revision>2</cp:revision>
  <dcterms:created xsi:type="dcterms:W3CDTF">2026-03-15T16:05:01Z</dcterms:created>
  <dcterms:modified xsi:type="dcterms:W3CDTF">2026-04-03T17:26:25Z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0x01010074D88015010EEF44B55100754D3B2217</vt:lpwstr>
  </property>
</Properties>
</file>